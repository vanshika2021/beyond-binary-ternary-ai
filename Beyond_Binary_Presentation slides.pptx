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ACB7BB-CF12-44D4-AE08-C73071F11F27}">
  <a:tblStyle styleId="{08ACB7BB-CF12-44D4-AE08-C73071F11F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Welcome everyone. My name is Vanshika Agrawal and I'm presenting with Vincent Cappone. Our project is called 'Beyond Binary: Radix Economy and Native Ternary Hardware.'</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core question we spent this </a:t>
            </a:r>
            <a:r>
              <a:rPr lang="en-US" sz="1200">
                <a:solidFill>
                  <a:schemeClr val="dk1"/>
                </a:solidFill>
              </a:rPr>
              <a:t>project</a:t>
            </a:r>
            <a:r>
              <a:rPr b="0" i="0" lang="en-US" sz="1200" u="none" cap="none" strike="noStrike">
                <a:solidFill>
                  <a:schemeClr val="dk1"/>
                </a:solidFill>
                <a:latin typeface="Arial"/>
                <a:ea typeface="Arial"/>
                <a:cs typeface="Arial"/>
                <a:sym typeface="Arial"/>
              </a:rPr>
              <a:t> on is: can changing the number system that weights are stored in — from binary to balanced ternary — make AI hardware meaningfully cheaper and more energy-efficient?</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short answer is yes, and we have silicon-level measurements to back it up.</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Quick roadmap of the next 20 minutes.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We'll start with WHY this matters — AI's growing energy cost. Then background on what ternary arithmetic actually is. Then the methodology — how we trained ternary neural networks and how we designed the hardware. The bulk of the presentation is evaluation — real accuracy numbers, real synthesis numbers, real power measurements. And we'll close with what this all means.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Feel free to ask questions as we go.To summarize in four sentences: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Ternary quantization via QAT consistently matches or exceeds float accuracy — the regularization effect is robust and reproducible.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Nangate45 silicon, Track A ternary hardware is 46.5% smaller, 4.1% faster, and uses 81.9% less energy per inference.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Track B shows the sweet spot at 3-trit weights — 26% cheaper hardware than INT8 with richer weight precision than 1-trit.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the fundamental architectural lesson is that radix economy is substrate-dependent: on binary CMOS, the benefit is captured by ternary weight encoding up to 3 trits, but native ternary devices would extend this advantage much further.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Thank you.</a:t>
            </a:r>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Let's start with the problem we're trying to solve.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AI inference is expensive. Modern data centers spend roughly 30% of their power budget just on compute, and that number is projected to triple by 2030. The bottleneck is the multiply-accumulate operation — the MAC — which is executed billions of times per image in a deep network.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industry standard today is INT8: 8-bit signed integer weights multiplied by 8-bit activations. That requires a full 8×8 bit multiplier. Our hypothesis is that if we use ternary weights — just three values, minus one, zero, and plus one — we can replace that expensive multiplier entirely.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slide sets up the motivation. The question is whether the hardware savings are real and whether the accuracy holds up.</a:t>
            </a:r>
            <a:endParaRPr/>
          </a:p>
        </p:txBody>
      </p:sp>
      <p:sp>
        <p:nvSpPr>
          <p:cNvPr id="57" name="Google Shape;5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Before we get to results, let me explain what balanced ternary actually is, because it's not something most people encounter.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 binary, each digit is 0 or 1. In balanced ternary, each digit — called a trit — is minus 1, zero, or plus 1. So a weight that in binary might be stored as 8 bits with 256 possible values, in balanced ternary can be stored as a few trits.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advantage on the right side: negation is FREE. To negate a number in balanced ternary, you just swap the plus-one and minus-one wires. That's a wire crossing — no logic gates, no transistors, no adder chain. This is fundamentally different from two's complement binary where negating requires inverting all bits and adding 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because each trit carries its own sign, you never need sign extension in the adder tree. These two structural advantages are what drive the hardware savings we'll show you.</a:t>
            </a:r>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shows how we actually encode trits in hardware, and what the MAC datapath looks like.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use a two-bit one-hot encoding per trit: bit pattern 01 means plus-one, 10 means minus-one, 00 means zero. The pattern 11 is forbidden.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insight is in the bottom-left box: when a weight trit is minus-one, the partial product is the negated activation. In hardware, that negation is literally just swapping the two wires of each encoding pair. Zero transistors. Zero gates. Free</a:t>
            </a:r>
            <a:r>
              <a:rPr lang="en-US" sz="1200">
                <a:solidFill>
                  <a:schemeClr val="dk1"/>
                </a:solidFill>
              </a:rPr>
              <a:t> of resources.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right, the MAC datapath: each weight trit selects from plus-x, zero, or minus-x using a 3-to-1 mux. These N partial products get scaled by powers of 3 — using cheap shift-and-add operations — and summed in a small binary adder. The result accumulates into a 24-bit register.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architecture we implemented in Verilog and synthesized.</a:t>
            </a:r>
            <a:endParaRPr/>
          </a:p>
        </p:txBody>
      </p:sp>
      <p:sp>
        <p:nvSpPr>
          <p:cNvPr id="96" name="Google Shape;9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Now the software side. How do you train a neural network that works with ternary weights?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naive approach — post-training quantization — just snaps weights to minus-one, zero, plus-one after training. We tried this. It collapses accuracy to around 40% on CIFAR-10. The network was never prepared for such brutal rounding.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Quantization-Aware Training is the fix. During fine-tuning, every forward pass uses fake ternary weights via the Straight-Through Estimator. The network sees what inference will look like and learns to cluster its weights near minus-one, zero, and plus-one naturally. Gradients still flow through the real float weights, so the optimizer can still improve the model.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critical additional step is BatchNorm recalibration: after ternarizing, we run about a thousand images through the model in training mode so BatchNorm can relearn what 'normal' activation magnitudes look like under ternary weights. Without this, accuracy collapses to random guessing.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results are in the bottom two boxes. On CIFAR-10 we went from 85.31% baseline to 86.66% with ternary QAT — that's better than the float model. On CIFAR-100 similarly, 61.18% to 62.02%. We'll dig into this more in the evaluation section.</a:t>
            </a:r>
            <a:endParaRPr/>
          </a:p>
        </p:txBody>
      </p:sp>
      <p:sp>
        <p:nvSpPr>
          <p:cNvPr id="139" name="Google Shape;13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On the hardware side, the pipeline has four stages.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First, we wrote the RTL in Verilog. The key modules are the ternary MAC with its mux-based partial product generator, the balanced ternary full adder, and the standard binary MAC as a baseline.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Second, functional verification using Icarus Verilog. We generated hundreds to thousands of test vectors from a Python golden reference model and verified bit-exact match for every case. This is important — you'll see the '25 passed 0 failed' output on the next slide.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Third, synthesis with Yosys using the abc -g cmos2 flag, which maps to a technology-independent CMOS gate library. This gives us normalized cell counts and gate equivalents that are valid across any reasonable process node.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Fourth, for Track A we went all the way to OpenSTA on Nangate45 — a real 45nm standard cell library — which gives us actual area in square micrometers, delay in nanoseconds, and power in microwatts.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built three designs: Track A with single-trit weights, Track B with N-trit weights, and the binary baseline.</a:t>
            </a:r>
            <a:endParaRPr/>
          </a:p>
        </p:txBody>
      </p:sp>
      <p:sp>
        <p:nvSpPr>
          <p:cNvPr id="174" name="Google Shape;17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f7155e422_0_6: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f7155e422_0_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f7155e422_0_64: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f7155e422_0_64: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actual terminal output from our CIFAR-100 QAT run on Colab, not a mockup.</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Watch the green column — validation accuracy under simulated ternary weights. It starts at 50.52% at epoch 1, which is actually below random guessing initially as the network adjusts to the ternary constraint. By epoch 3 it's at 58.87%, climbing steadily. At epoch 8 it crosses 61.18% — that's the baseline — and it keeps going. By epoch 10 it's at 61.99%.</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That green checkmark at the bottom is real: 61.99% ternary versus 61.18% float. The constraint helped.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reason this happens — which we explain on the right — is that ternary quantization acts as a regularizer. It forces the network to throw away small, noisy weight values that don't generalize well. Only weights strong enough to survive rounding to plus-one or minus-one get kept. That structure happens to generalize better to the test set.</a:t>
            </a:r>
            <a:endParaRPr/>
          </a:p>
        </p:txBody>
      </p:sp>
      <p:sp>
        <p:nvSpPr>
          <p:cNvPr id="240" name="Google Shape;24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actual synthesis output from our Yosys runs, pulled directly from the phase2_final notebook.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left, the standard binary MAC: 664 total cells, dominated by XOR and XNOR gates — those are the multiplier carry chains. On the right, the ternary MAC: 317 cells. Notice the XOR count drops from 161 to 60 — a 63% reduction in multiplier logic. The MUX count goes up slightly, from 33 to 41 — that's the ternary selector logic replacing the AND-gate array.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headline: 52% fewer cells, 50% fewer gate equivalents. And 30 test cases verified across all corner cases — the hardware is functionally correct.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What's striking is WHERE the savings come from. It's not random — it's specifically the multiplication logic that disappears. The MUX-based partial product generator replaces 214 XOR/XNOR cells with just 41 MUX cells. That's the radix economy claim made concrete.</a:t>
            </a:r>
            <a:endParaRPr/>
          </a:p>
        </p:txBody>
      </p:sp>
      <p:sp>
        <p:nvSpPr>
          <p:cNvPr id="254" name="Google Shape;25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output from our Track B Phase 2 Jupyter notebook — four panels showing gate count, transistor count, logic depth, and relative power against weight precision.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thing to see in the top-left panel: the 3-trit data point is clearly below the red dashed binary baseline line. At 3 trits, we use 996 cells versus 1351 for the 8-bit binary MAC — that's 26% smaller.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Then look what happens at 4 trits: the line crosses above the baseline. At 5 trits it's well above.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crossover point, and it's the central engineering finding of Track B: 3-trit weights are the sweet spot. You get 27 levels of precision — significantly richer than the 3 levels of Track A — while still being cheaper in hardware than standard INT8.</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All four panels tell the same story consistently. This is not cherry-picking one metric.</a:t>
            </a:r>
            <a:endParaRPr/>
          </a:p>
        </p:txBody>
      </p:sp>
      <p:sp>
        <p:nvSpPr>
          <p:cNvPr id="271" name="Google Shape;27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Let's go through the results systematically. Track A software first.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top-line numbers: plus 1.35% on CIFAR-10, plus 0.84% on CIFAR-100. Ternary QAT beats float accuracy on both datasets.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alpha sweep table is important because it shows this isn't just luck at one setting. Alpha controls the threshold below which weights get zeroed. At alpha equals 0.10, highlighted in purple, we hit the sweet spot: 38% sparsity, meaning 38% of all multiplication operations become zero and get skipped entirely, and accuracy still exceeds baseline.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Going higher — alpha 0.15, 0.20 — sparsity increases but accuracy drops. The network is being over-pruned. Going lower — alpha 0.05 — not enough regularization benefit.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+30.9 percentage point recovery from PTQ to QAT is also worth noting. Post-training quantization alone only gets you 31.1% on CIFAR-100. QAT recovers that to 62.02%. That gap demonstrates why QAT is necessary for real-world deployment.</a:t>
            </a:r>
            <a:endParaRPr/>
          </a:p>
        </p:txBody>
      </p:sp>
      <p:sp>
        <p:nvSpPr>
          <p:cNvPr id="282" name="Google Shape;28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Track A hardware synthesis. The three stat cards at the top are the headline: 51% fewer cells, and the transistor counts side by side.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bar chart makes the comparison visual: binary at 1351 cells, ternary at 677. That's not a small margin — it's almost exactly half.</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explanation on the right is the mechanistic story. Single-trit weights select from plus-x, zero, minus-x via a 3-way mux. There is no multiplier circuit anywhere in the ternary MAC. The binary baseline, by contrast, infers a Booth-encoded Wallace multiplier — the state of the art for binary multiplication — and we still beat it by 50%.</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gate breakdown confirms this: 161 XOR gates in binary versus 60 in ternary. XOR chains are the signature of binary multiplier carry logic. When those disappear, you know the multiplier is gone.</a:t>
            </a:r>
            <a:endParaRPr/>
          </a:p>
        </p:txBody>
      </p:sp>
      <p:sp>
        <p:nvSpPr>
          <p:cNvPr id="304" name="Google Shape;30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our most rigorous hardware result. We built OpenSTA from source in Colab, synthesized against the actual Nangate45 45nm Liberty file, and ran static timing analysis.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 key numbers: 46.5% area reduction — the ternary MAC takes up less than half the die area. 4.1% faster critical path — slightly shorter delay through the circuit. 70.3% lower dynamic power with a standard activity factor.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the most important number: 81.9% total energy savings per inference. That last number comes from combining the per-MAC power reduction with the 38% sparsity — zero-weight MACs don't toggle any switching activity — and scaling across the 1.8 billion MAC operations in a ResNet-18 forward pass on CIFAR-100.</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methodology validation note at the bottom is worth mentioning: Phase 2 (process-independent normalized GEs) gave 51% area reduction, and Phase 3 (real Nangate45 square micrometers) gives 46.5%. Two completely different methodologies within 5 percentage points of each other. That consistency validates the result is genuine, not a tool artifact.</a:t>
            </a:r>
            <a:endParaRPr/>
          </a:p>
        </p:txBody>
      </p:sp>
      <p:sp>
        <p:nvSpPr>
          <p:cNvPr id="329" name="Google Shape;32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Six panels from our Phase 3 notebook showing the actual bar charts from OpenSTA.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orange bars are standard binary MAC, blue is ternary. Every single panel favors ternary. The area reduction is visually dramatic — the blue bar is less than half the orange. The power panels are even more striking: dynamic power drops from 477 to 138 microwatts.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frequency panel is interesting — ternary is actually slightly faster, 664 to 692 MHz. This happens because the critical path through the ternary circuit is shorter: a mux-based selector has fewer gate levels than a carry-propagate multiplier chain.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These measurements were taken at typical corner: 1.1 volts, 25 degrees Celsius.</a:t>
            </a:r>
            <a:endParaRPr/>
          </a:p>
        </p:txBody>
      </p:sp>
      <p:sp>
        <p:nvSpPr>
          <p:cNvPr id="352" name="Google Shape;35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 Track A showed single-trit weights work. The natural question is: can we do better? What if weights had more precision — say 27 levels instead of 3?</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That's Track B. We extend the ternary weight encoding from 1 trit to 3, 4, or 5 trits. At 3 trits you get 27 distinct weight levels, at 5 trits you get 243 levels — approaching the 256 levels of standard INT8.</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hardware question is: does the radix economy advantage survive as we add more trits? Or does the extra precision cost more than it saves?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research question is on the bottom: at 3-trit precision, is the hardware still cheaper than INT8 AND is the accuracy competitive? If both are yes, we have a Pareto improvement — strictly better than INT8 in both dimensions.</a:t>
            </a:r>
            <a:endParaRPr/>
          </a:p>
        </p:txBody>
      </p:sp>
      <p:sp>
        <p:nvSpPr>
          <p:cNvPr id="363" name="Google Shape;36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the answer to the hardware question. And it's a clean result.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3 trits: 996 cells versus 1351 for binary. That's 0.74 times — 26% smaller. The ternary architecture wins.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4 trits: 1457 cells, 1.08 times. Essentially at parity with binary.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5 trits: 1924 cells, 1.42 times. Binary baseline wins.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crossover is between 3 and 4 trits. This is the actionable engineering result: if you need more than 3 trits of weight precision, the hardware cost advantage disappears.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does it cross over? Because each additional trit requires scaling by a higher power of 3. At trit position 2, that's times-9 — nearly free as a shift. At trit position 3, it's times-27 — a 5-operation shift-and-subtract. At trit position 4, it's times-81 — a 3-operation shift-and-add. These constant-multiply networks start costing more gates than the partial-product-row savings justify.</a:t>
            </a:r>
            <a:endParaRPr/>
          </a:p>
        </p:txBody>
      </p:sp>
      <p:sp>
        <p:nvSpPr>
          <p:cNvPr id="389" name="Google Shape;389;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 our one pending result — the Track B Phase 1 accuracy curve is still running on Colab as of this presentation.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we're measuring: ResNet-18 with N-trit balanced ternary weights — where N ranges from 1 to 5 — on CIFAR-10 and CIFAR-100. Each precision level gets a fresh QAT fine-tuning run.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anchored points we already know: float baseline at 85.31% and 61.18%, and Track A's 1-trit result at 86.66% and 62.02%.</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question for 3-trit is whether accuracy at 27 levels of weight precision is at or above the float baseline. If yes, we have a complete story: 3-trit is 26% cheaper in hardware AND matches or beats float accuracy. That's a genuine Pareto improvement over INT8.</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We'll update this slide with real numbers once the run completes.</a:t>
            </a:r>
            <a:endParaRPr/>
          </a:p>
        </p:txBody>
      </p:sp>
      <p:sp>
        <p:nvSpPr>
          <p:cNvPr id="411" name="Google Shape;411;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Let me bring it all together.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 findings, all supported by measurements: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One — ternary QAT works. It doesn't just preserve accuracy, it improves it. The regularization effect is robust across two different datasets and two different tasks.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Two — the hardware savings are real. 46.5% less area, 70% less dynamic power, verified on a real 45nm process by OpenSTA — not estimated, not modeled, actually synthesized.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Three — the multi-trit extension works at 3-trit precision. 27 levels of weight precision, 26% smaller hardware than INT8. That's the contribution of Track B.</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 — there's a sweet spot. 3 trits is where the economics work. Below that, you sacrifice accuracy precision. Above that, the hardware cost advantage inverts. The data tells you exactly where to draw the line.</a:t>
            </a:r>
            <a:endParaRPr/>
          </a:p>
        </p:txBody>
      </p:sp>
      <p:sp>
        <p:nvSpPr>
          <p:cNvPr id="421" name="Google Shape;42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We want to be transparent about what this work doesn't cover yet.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Track B hardware used Yosys with a tech-independent gate library. For Track A we went all the way to Nangate45 and OpenSTA. Track B deserves the same treatment — that's the natural next step.</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All results are for a single MAC unit. A real accelerator has thousands of MACs plus SRAM, routing, clock trees. The per-MAC savings should scale, but array-level characterization would validate that.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software side, we validated on CIFAR datasets. ImageNet, transformer models, and larger ResNets are the obvious next experiments.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finally — the most ambitious future direction — the radix economy argument is fundamentally about substrate matching. On binary CMOS, binary wins at high precision. But on memristor arrays or multi-level CMOS devices that can natively hold three voltage levels, balanced ternary could win decisively. That's a longer-term research direction.</a:t>
            </a:r>
            <a:endParaRPr/>
          </a:p>
        </p:txBody>
      </p:sp>
      <p:sp>
        <p:nvSpPr>
          <p:cNvPr id="449" name="Google Shape;449;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74" name="Google Shape;474;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Thank you for your attention. We are happy to take questions about any aspect of the work — methodology, results, or the broader implications for hardware-efficient AI. If you want to dig deeper, all the code and notebooks are available and we can walk through any specific result.</a:t>
            </a:r>
            <a:endParaRPr/>
          </a:p>
        </p:txBody>
      </p:sp>
      <p:sp>
        <p:nvSpPr>
          <p:cNvPr id="490" name="Google Shape;490;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0050"/>
        </a:solidFill>
      </p:bgPr>
    </p:bg>
    <p:spTree>
      <p:nvGrpSpPr>
        <p:cNvPr id="11" name="Shape 11"/>
        <p:cNvGrpSpPr/>
        <p:nvPr/>
      </p:nvGrpSpPr>
      <p:grpSpPr>
        <a:xfrm>
          <a:off x="0" y="0"/>
          <a:ext cx="0" cy="0"/>
          <a:chOff x="0" y="0"/>
          <a:chExt cx="0" cy="0"/>
        </a:xfrm>
      </p:grpSpPr>
      <p:sp>
        <p:nvSpPr>
          <p:cNvPr id="12" name="Google Shape;12;p3"/>
          <p:cNvSpPr/>
          <p:nvPr/>
        </p:nvSpPr>
        <p:spPr>
          <a:xfrm>
            <a:off x="0" y="0"/>
            <a:ext cx="9144000" cy="73152"/>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5943600" y="731520"/>
            <a:ext cx="228600" cy="228600"/>
          </a:xfrm>
          <a:prstGeom prst="rect">
            <a:avLst/>
          </a:prstGeom>
          <a:solidFill>
            <a:srgbClr val="8900E1">
              <a:alpha val="20000"/>
            </a:srgbClr>
          </a:solidFill>
          <a:ln cap="flat" cmpd="sng" w="12700">
            <a:solidFill>
              <a:srgbClr val="8900E1">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6263640" y="731520"/>
            <a:ext cx="228600" cy="228600"/>
          </a:xfrm>
          <a:prstGeom prst="rect">
            <a:avLst/>
          </a:prstGeom>
          <a:solidFill>
            <a:srgbClr val="8900E1">
              <a:alpha val="20000"/>
            </a:srgbClr>
          </a:solidFill>
          <a:ln cap="flat" cmpd="sng" w="12700">
            <a:solidFill>
              <a:srgbClr val="8900E1">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6583680" y="731520"/>
            <a:ext cx="228600" cy="228600"/>
          </a:xfrm>
          <a:prstGeom prst="rect">
            <a:avLst/>
          </a:prstGeom>
          <a:solidFill>
            <a:srgbClr val="8900E1">
              <a:alpha val="20000"/>
            </a:srgbClr>
          </a:solidFill>
          <a:ln cap="flat" cmpd="sng" w="12700">
            <a:solidFill>
              <a:srgbClr val="8900E1">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3"/>
          <p:cNvSpPr/>
          <p:nvPr/>
        </p:nvSpPr>
        <p:spPr>
          <a:xfrm>
            <a:off x="5943600" y="1280160"/>
            <a:ext cx="228600" cy="228600"/>
          </a:xfrm>
          <a:prstGeom prst="rect">
            <a:avLst/>
          </a:prstGeom>
          <a:solidFill>
            <a:srgbClr val="8900E1">
              <a:alpha val="20000"/>
            </a:srgbClr>
          </a:solidFill>
          <a:ln cap="flat" cmpd="sng" w="12700">
            <a:solidFill>
              <a:srgbClr val="8900E1">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3"/>
          <p:cNvSpPr/>
          <p:nvPr/>
        </p:nvSpPr>
        <p:spPr>
          <a:xfrm>
            <a:off x="6263640" y="1280160"/>
            <a:ext cx="228600" cy="228600"/>
          </a:xfrm>
          <a:prstGeom prst="rect">
            <a:avLst/>
          </a:prstGeom>
          <a:solidFill>
            <a:srgbClr val="8900E1">
              <a:alpha val="20000"/>
            </a:srgbClr>
          </a:solidFill>
          <a:ln cap="flat" cmpd="sng" w="12700">
            <a:solidFill>
              <a:srgbClr val="8900E1">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3"/>
          <p:cNvSpPr/>
          <p:nvPr/>
        </p:nvSpPr>
        <p:spPr>
          <a:xfrm>
            <a:off x="6583680" y="1280160"/>
            <a:ext cx="228600" cy="228600"/>
          </a:xfrm>
          <a:prstGeom prst="rect">
            <a:avLst/>
          </a:prstGeom>
          <a:solidFill>
            <a:srgbClr val="8900E1">
              <a:alpha val="20000"/>
            </a:srgbClr>
          </a:solidFill>
          <a:ln cap="flat" cmpd="sng" w="12700">
            <a:solidFill>
              <a:srgbClr val="8900E1">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3"/>
          <p:cNvSpPr/>
          <p:nvPr/>
        </p:nvSpPr>
        <p:spPr>
          <a:xfrm>
            <a:off x="548640" y="82296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518"/>
              </a:buClr>
              <a:buSzPts val="1300"/>
              <a:buFont typeface="Calibri"/>
              <a:buNone/>
            </a:pPr>
            <a:r>
              <a:rPr b="1" lang="en-US" sz="1300">
                <a:solidFill>
                  <a:srgbClr val="F5C518"/>
                </a:solidFill>
                <a:latin typeface="Calibri"/>
                <a:ea typeface="Calibri"/>
                <a:cs typeface="Calibri"/>
                <a:sym typeface="Calibri"/>
              </a:rPr>
              <a:t>BEYOND BINARY</a:t>
            </a:r>
            <a:endParaRPr sz="1300">
              <a:solidFill>
                <a:schemeClr val="dk1"/>
              </a:solidFill>
              <a:latin typeface="Calibri"/>
              <a:ea typeface="Calibri"/>
              <a:cs typeface="Calibri"/>
              <a:sym typeface="Calibri"/>
            </a:endParaRPr>
          </a:p>
        </p:txBody>
      </p:sp>
      <p:sp>
        <p:nvSpPr>
          <p:cNvPr id="20" name="Google Shape;20;p3"/>
          <p:cNvSpPr/>
          <p:nvPr/>
        </p:nvSpPr>
        <p:spPr>
          <a:xfrm>
            <a:off x="548640" y="1417320"/>
            <a:ext cx="713232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Radix Economy and</a:t>
            </a:r>
            <a:endParaRPr sz="4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Native Ternary Hardware</a:t>
            </a:r>
            <a:endParaRPr sz="4000">
              <a:solidFill>
                <a:schemeClr val="dk1"/>
              </a:solidFill>
              <a:latin typeface="Calibri"/>
              <a:ea typeface="Calibri"/>
              <a:cs typeface="Calibri"/>
              <a:sym typeface="Calibri"/>
            </a:endParaRPr>
          </a:p>
        </p:txBody>
      </p:sp>
      <p:sp>
        <p:nvSpPr>
          <p:cNvPr id="21" name="Google Shape;21;p3"/>
          <p:cNvSpPr/>
          <p:nvPr/>
        </p:nvSpPr>
        <p:spPr>
          <a:xfrm>
            <a:off x="548640" y="2880360"/>
            <a:ext cx="3200400" cy="36576"/>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548640" y="30175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lang="en-US" sz="1500">
                <a:solidFill>
                  <a:srgbClr val="FFFFFF"/>
                </a:solidFill>
                <a:latin typeface="Calibri"/>
                <a:ea typeface="Calibri"/>
                <a:cs typeface="Calibri"/>
                <a:sym typeface="Calibri"/>
              </a:rPr>
              <a:t>Vanshika Agrawal  ·  Vincent Cappone</a:t>
            </a:r>
            <a:endParaRPr sz="1500">
              <a:solidFill>
                <a:schemeClr val="dk1"/>
              </a:solidFill>
              <a:latin typeface="Calibri"/>
              <a:ea typeface="Calibri"/>
              <a:cs typeface="Calibri"/>
              <a:sym typeface="Calibri"/>
            </a:endParaRPr>
          </a:p>
        </p:txBody>
      </p:sp>
      <p:sp>
        <p:nvSpPr>
          <p:cNvPr id="23" name="Google Shape;23;p3"/>
          <p:cNvSpPr/>
          <p:nvPr/>
        </p:nvSpPr>
        <p:spPr>
          <a:xfrm>
            <a:off x="548640" y="3401568"/>
            <a:ext cx="6400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BAACC"/>
              </a:buClr>
              <a:buSzPts val="1200"/>
              <a:buFont typeface="Calibri"/>
              <a:buNone/>
            </a:pPr>
            <a:r>
              <a:rPr lang="en-US" sz="1200">
                <a:solidFill>
                  <a:srgbClr val="BBAACC"/>
                </a:solidFill>
                <a:latin typeface="Calibri"/>
                <a:ea typeface="Calibri"/>
                <a:cs typeface="Calibri"/>
                <a:sym typeface="Calibri"/>
              </a:rPr>
              <a:t>New York University  ·  Computer Engineering</a:t>
            </a:r>
            <a:endParaRPr sz="1200">
              <a:solidFill>
                <a:schemeClr val="dk1"/>
              </a:solidFill>
              <a:latin typeface="Calibri"/>
              <a:ea typeface="Calibri"/>
              <a:cs typeface="Calibri"/>
              <a:sym typeface="Calibri"/>
            </a:endParaRPr>
          </a:p>
        </p:txBody>
      </p:sp>
      <p:sp>
        <p:nvSpPr>
          <p:cNvPr id="24" name="Google Shape;24;p3"/>
          <p:cNvSpPr/>
          <p:nvPr/>
        </p:nvSpPr>
        <p:spPr>
          <a:xfrm>
            <a:off x="0" y="4813300"/>
            <a:ext cx="9144000" cy="330200"/>
          </a:xfrm>
          <a:prstGeom prst="rect">
            <a:avLst/>
          </a:prstGeom>
          <a:solidFill>
            <a:srgbClr val="22002E"/>
          </a:solidFill>
          <a:ln cap="flat" cmpd="sng" w="12700">
            <a:solidFill>
              <a:srgbClr val="220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3"/>
          <p:cNvSpPr/>
          <p:nvPr/>
        </p:nvSpPr>
        <p:spPr>
          <a:xfrm>
            <a:off x="274320" y="4828032"/>
            <a:ext cx="859536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BAACC"/>
              </a:buClr>
              <a:buSzPts val="1000"/>
              <a:buFont typeface="Calibri"/>
              <a:buNone/>
            </a:pPr>
            <a:r>
              <a:rPr lang="en-US" sz="1000">
                <a:solidFill>
                  <a:srgbClr val="BBAACC"/>
                </a:solidFill>
                <a:latin typeface="Calibri"/>
                <a:ea typeface="Calibri"/>
                <a:cs typeface="Calibri"/>
                <a:sym typeface="Calibri"/>
              </a:rPr>
              <a:t>NYU Tandon School of Engineering</a:t>
            </a:r>
            <a:endParaRPr sz="1000">
              <a:solidFill>
                <a:schemeClr val="dk1"/>
              </a:solidFill>
              <a:latin typeface="Calibri"/>
              <a:ea typeface="Calibri"/>
              <a:cs typeface="Calibri"/>
              <a:sym typeface="Calibri"/>
            </a:endParaRPr>
          </a:p>
        </p:txBody>
      </p:sp>
      <p:pic>
        <p:nvPicPr>
          <p:cNvPr id="26" name="Google Shape;26;p3"/>
          <p:cNvPicPr preferRelativeResize="0"/>
          <p:nvPr/>
        </p:nvPicPr>
        <p:blipFill rotWithShape="1">
          <a:blip r:embed="rId3">
            <a:alphaModFix/>
          </a:blip>
          <a:srcRect b="0" l="0" r="0" t="0"/>
          <a:stretch/>
        </p:blipFill>
        <p:spPr>
          <a:xfrm>
            <a:off x="7721600" y="279400"/>
            <a:ext cx="1092200" cy="6137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4"/>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Agenda</a:t>
            </a:r>
            <a:endParaRPr sz="2400">
              <a:solidFill>
                <a:schemeClr val="dk1"/>
              </a:solidFill>
              <a:latin typeface="Calibri"/>
              <a:ea typeface="Calibri"/>
              <a:cs typeface="Calibri"/>
              <a:sym typeface="Calibri"/>
            </a:endParaRPr>
          </a:p>
        </p:txBody>
      </p:sp>
      <p:sp>
        <p:nvSpPr>
          <p:cNvPr id="34" name="Google Shape;34;p4"/>
          <p:cNvSpPr/>
          <p:nvPr/>
        </p:nvSpPr>
        <p:spPr>
          <a:xfrm>
            <a:off x="411480" y="868680"/>
            <a:ext cx="502920" cy="566928"/>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4"/>
          <p:cNvSpPr/>
          <p:nvPr/>
        </p:nvSpPr>
        <p:spPr>
          <a:xfrm>
            <a:off x="411480" y="868680"/>
            <a:ext cx="502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01</a:t>
            </a:r>
            <a:endParaRPr sz="1700">
              <a:solidFill>
                <a:schemeClr val="dk1"/>
              </a:solidFill>
              <a:latin typeface="Calibri"/>
              <a:ea typeface="Calibri"/>
              <a:cs typeface="Calibri"/>
              <a:sym typeface="Calibri"/>
            </a:endParaRPr>
          </a:p>
        </p:txBody>
      </p:sp>
      <p:sp>
        <p:nvSpPr>
          <p:cNvPr id="36" name="Google Shape;36;p4"/>
          <p:cNvSpPr/>
          <p:nvPr/>
        </p:nvSpPr>
        <p:spPr>
          <a:xfrm>
            <a:off x="1005840" y="89611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Introduction</a:t>
            </a:r>
            <a:endParaRPr sz="1400">
              <a:solidFill>
                <a:schemeClr val="dk1"/>
              </a:solidFill>
              <a:latin typeface="Calibri"/>
              <a:ea typeface="Calibri"/>
              <a:cs typeface="Calibri"/>
              <a:sym typeface="Calibri"/>
            </a:endParaRPr>
          </a:p>
        </p:txBody>
      </p:sp>
      <p:sp>
        <p:nvSpPr>
          <p:cNvPr id="37" name="Google Shape;37;p4"/>
          <p:cNvSpPr/>
          <p:nvPr/>
        </p:nvSpPr>
        <p:spPr>
          <a:xfrm>
            <a:off x="1005840" y="115214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The AI energy crisis and the case for hardware efficiency</a:t>
            </a:r>
            <a:endParaRPr sz="1100">
              <a:solidFill>
                <a:schemeClr val="dk1"/>
              </a:solidFill>
              <a:latin typeface="Calibri"/>
              <a:ea typeface="Calibri"/>
              <a:cs typeface="Calibri"/>
              <a:sym typeface="Calibri"/>
            </a:endParaRPr>
          </a:p>
        </p:txBody>
      </p:sp>
      <p:sp>
        <p:nvSpPr>
          <p:cNvPr id="38" name="Google Shape;38;p4"/>
          <p:cNvSpPr/>
          <p:nvPr/>
        </p:nvSpPr>
        <p:spPr>
          <a:xfrm>
            <a:off x="411480" y="1645920"/>
            <a:ext cx="502920" cy="566928"/>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411480" y="1645920"/>
            <a:ext cx="502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02</a:t>
            </a:r>
            <a:endParaRPr sz="1700">
              <a:solidFill>
                <a:schemeClr val="dk1"/>
              </a:solidFill>
              <a:latin typeface="Calibri"/>
              <a:ea typeface="Calibri"/>
              <a:cs typeface="Calibri"/>
              <a:sym typeface="Calibri"/>
            </a:endParaRPr>
          </a:p>
        </p:txBody>
      </p:sp>
      <p:sp>
        <p:nvSpPr>
          <p:cNvPr id="40" name="Google Shape;40;p4"/>
          <p:cNvSpPr/>
          <p:nvPr/>
        </p:nvSpPr>
        <p:spPr>
          <a:xfrm>
            <a:off x="1005840" y="167335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Background</a:t>
            </a:r>
            <a:endParaRPr sz="1400">
              <a:solidFill>
                <a:schemeClr val="dk1"/>
              </a:solidFill>
              <a:latin typeface="Calibri"/>
              <a:ea typeface="Calibri"/>
              <a:cs typeface="Calibri"/>
              <a:sym typeface="Calibri"/>
            </a:endParaRPr>
          </a:p>
        </p:txBody>
      </p:sp>
      <p:sp>
        <p:nvSpPr>
          <p:cNvPr id="41" name="Google Shape;41;p4"/>
          <p:cNvSpPr/>
          <p:nvPr/>
        </p:nvSpPr>
        <p:spPr>
          <a:xfrm>
            <a:off x="1005840" y="192938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Binary vs. ternary arithmetic, balanced ternary encoding</a:t>
            </a:r>
            <a:endParaRPr sz="1100">
              <a:solidFill>
                <a:schemeClr val="dk1"/>
              </a:solidFill>
              <a:latin typeface="Calibri"/>
              <a:ea typeface="Calibri"/>
              <a:cs typeface="Calibri"/>
              <a:sym typeface="Calibri"/>
            </a:endParaRPr>
          </a:p>
        </p:txBody>
      </p:sp>
      <p:sp>
        <p:nvSpPr>
          <p:cNvPr id="42" name="Google Shape;42;p4"/>
          <p:cNvSpPr/>
          <p:nvPr/>
        </p:nvSpPr>
        <p:spPr>
          <a:xfrm>
            <a:off x="411480" y="2423160"/>
            <a:ext cx="502920" cy="566928"/>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411480" y="2423160"/>
            <a:ext cx="502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03</a:t>
            </a:r>
            <a:endParaRPr sz="1700">
              <a:solidFill>
                <a:schemeClr val="dk1"/>
              </a:solidFill>
              <a:latin typeface="Calibri"/>
              <a:ea typeface="Calibri"/>
              <a:cs typeface="Calibri"/>
              <a:sym typeface="Calibri"/>
            </a:endParaRPr>
          </a:p>
        </p:txBody>
      </p:sp>
      <p:sp>
        <p:nvSpPr>
          <p:cNvPr id="44" name="Google Shape;44;p4"/>
          <p:cNvSpPr/>
          <p:nvPr/>
        </p:nvSpPr>
        <p:spPr>
          <a:xfrm>
            <a:off x="1005840" y="245059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Methodology</a:t>
            </a:r>
            <a:endParaRPr sz="1400">
              <a:solidFill>
                <a:schemeClr val="dk1"/>
              </a:solidFill>
              <a:latin typeface="Calibri"/>
              <a:ea typeface="Calibri"/>
              <a:cs typeface="Calibri"/>
              <a:sym typeface="Calibri"/>
            </a:endParaRPr>
          </a:p>
        </p:txBody>
      </p:sp>
      <p:sp>
        <p:nvSpPr>
          <p:cNvPr id="45" name="Google Shape;45;p4"/>
          <p:cNvSpPr/>
          <p:nvPr/>
        </p:nvSpPr>
        <p:spPr>
          <a:xfrm>
            <a:off x="1005840" y="270662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QAT training pipeline and ternary MAC hardware design</a:t>
            </a:r>
            <a:endParaRPr sz="1100">
              <a:solidFill>
                <a:schemeClr val="dk1"/>
              </a:solidFill>
              <a:latin typeface="Calibri"/>
              <a:ea typeface="Calibri"/>
              <a:cs typeface="Calibri"/>
              <a:sym typeface="Calibri"/>
            </a:endParaRPr>
          </a:p>
        </p:txBody>
      </p:sp>
      <p:sp>
        <p:nvSpPr>
          <p:cNvPr id="46" name="Google Shape;46;p4"/>
          <p:cNvSpPr/>
          <p:nvPr/>
        </p:nvSpPr>
        <p:spPr>
          <a:xfrm>
            <a:off x="411480" y="3200400"/>
            <a:ext cx="502920" cy="566928"/>
          </a:xfrm>
          <a:prstGeom prst="rect">
            <a:avLst/>
          </a:prstGeom>
          <a:solidFill>
            <a:srgbClr val="0369A1"/>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4"/>
          <p:cNvSpPr/>
          <p:nvPr/>
        </p:nvSpPr>
        <p:spPr>
          <a:xfrm>
            <a:off x="411480" y="3200400"/>
            <a:ext cx="502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04</a:t>
            </a:r>
            <a:endParaRPr sz="1700">
              <a:solidFill>
                <a:schemeClr val="dk1"/>
              </a:solidFill>
              <a:latin typeface="Calibri"/>
              <a:ea typeface="Calibri"/>
              <a:cs typeface="Calibri"/>
              <a:sym typeface="Calibri"/>
            </a:endParaRPr>
          </a:p>
        </p:txBody>
      </p:sp>
      <p:sp>
        <p:nvSpPr>
          <p:cNvPr id="48" name="Google Shape;48;p4"/>
          <p:cNvSpPr/>
          <p:nvPr/>
        </p:nvSpPr>
        <p:spPr>
          <a:xfrm>
            <a:off x="1005840" y="322783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Evaluation</a:t>
            </a:r>
            <a:endParaRPr sz="1400">
              <a:solidFill>
                <a:schemeClr val="dk1"/>
              </a:solidFill>
              <a:latin typeface="Calibri"/>
              <a:ea typeface="Calibri"/>
              <a:cs typeface="Calibri"/>
              <a:sym typeface="Calibri"/>
            </a:endParaRPr>
          </a:p>
        </p:txBody>
      </p:sp>
      <p:sp>
        <p:nvSpPr>
          <p:cNvPr id="49" name="Google Shape;49;p4"/>
          <p:cNvSpPr/>
          <p:nvPr/>
        </p:nvSpPr>
        <p:spPr>
          <a:xfrm>
            <a:off x="1005840" y="348386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Track A &amp; B results: accuracy, area, delay, and power</a:t>
            </a:r>
            <a:endParaRPr sz="1100">
              <a:solidFill>
                <a:schemeClr val="dk1"/>
              </a:solidFill>
              <a:latin typeface="Calibri"/>
              <a:ea typeface="Calibri"/>
              <a:cs typeface="Calibri"/>
              <a:sym typeface="Calibri"/>
            </a:endParaRPr>
          </a:p>
        </p:txBody>
      </p:sp>
      <p:sp>
        <p:nvSpPr>
          <p:cNvPr id="50" name="Google Shape;50;p4"/>
          <p:cNvSpPr/>
          <p:nvPr/>
        </p:nvSpPr>
        <p:spPr>
          <a:xfrm>
            <a:off x="411480" y="3977640"/>
            <a:ext cx="502920" cy="566928"/>
          </a:xfrm>
          <a:prstGeom prst="rect">
            <a:avLst/>
          </a:prstGeom>
          <a:solidFill>
            <a:srgbClr val="059669"/>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411480" y="3977640"/>
            <a:ext cx="502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05</a:t>
            </a:r>
            <a:endParaRPr sz="1700">
              <a:solidFill>
                <a:schemeClr val="dk1"/>
              </a:solidFill>
              <a:latin typeface="Calibri"/>
              <a:ea typeface="Calibri"/>
              <a:cs typeface="Calibri"/>
              <a:sym typeface="Calibri"/>
            </a:endParaRPr>
          </a:p>
        </p:txBody>
      </p:sp>
      <p:sp>
        <p:nvSpPr>
          <p:cNvPr id="52" name="Google Shape;52;p4"/>
          <p:cNvSpPr/>
          <p:nvPr/>
        </p:nvSpPr>
        <p:spPr>
          <a:xfrm>
            <a:off x="1005840" y="400507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Conclusion</a:t>
            </a:r>
            <a:endParaRPr sz="1400">
              <a:solidFill>
                <a:schemeClr val="dk1"/>
              </a:solidFill>
              <a:latin typeface="Calibri"/>
              <a:ea typeface="Calibri"/>
              <a:cs typeface="Calibri"/>
              <a:sym typeface="Calibri"/>
            </a:endParaRPr>
          </a:p>
        </p:txBody>
      </p:sp>
      <p:sp>
        <p:nvSpPr>
          <p:cNvPr id="53" name="Google Shape;53;p4"/>
          <p:cNvSpPr/>
          <p:nvPr/>
        </p:nvSpPr>
        <p:spPr>
          <a:xfrm>
            <a:off x="1005840" y="426110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Findings, limitations, and future directions</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5"/>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5"/>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Introduction: The AI Energy Crisis</a:t>
            </a:r>
            <a:endParaRPr sz="2400">
              <a:solidFill>
                <a:schemeClr val="dk1"/>
              </a:solidFill>
              <a:latin typeface="Calibri"/>
              <a:ea typeface="Calibri"/>
              <a:cs typeface="Calibri"/>
              <a:sym typeface="Calibri"/>
            </a:endParaRPr>
          </a:p>
        </p:txBody>
      </p:sp>
      <p:sp>
        <p:nvSpPr>
          <p:cNvPr id="61" name="Google Shape;61;p5"/>
          <p:cNvSpPr/>
          <p:nvPr/>
        </p:nvSpPr>
        <p:spPr>
          <a:xfrm>
            <a:off x="411480" y="868680"/>
            <a:ext cx="2560320" cy="1188720"/>
          </a:xfrm>
          <a:prstGeom prst="rect">
            <a:avLst/>
          </a:prstGeom>
          <a:solidFill>
            <a:srgbClr val="57068C"/>
          </a:solidFill>
          <a:ln cap="flat" cmpd="sng" w="12700">
            <a:solidFill>
              <a:srgbClr val="57068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5"/>
          <p:cNvSpPr/>
          <p:nvPr/>
        </p:nvSpPr>
        <p:spPr>
          <a:xfrm>
            <a:off x="411480" y="941832"/>
            <a:ext cx="2560320" cy="6537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a:t>
            </a:r>
            <a:endParaRPr sz="3600">
              <a:solidFill>
                <a:schemeClr val="dk1"/>
              </a:solidFill>
              <a:latin typeface="Calibri"/>
              <a:ea typeface="Calibri"/>
              <a:cs typeface="Calibri"/>
              <a:sym typeface="Calibri"/>
            </a:endParaRPr>
          </a:p>
        </p:txBody>
      </p:sp>
      <p:sp>
        <p:nvSpPr>
          <p:cNvPr id="63" name="Google Shape;63;p5"/>
          <p:cNvSpPr/>
          <p:nvPr/>
        </p:nvSpPr>
        <p:spPr>
          <a:xfrm>
            <a:off x="411480" y="1558138"/>
            <a:ext cx="2560320" cy="45171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AI energy demand by 2030</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(vs today)</a:t>
            </a:r>
            <a:endParaRPr sz="1100">
              <a:solidFill>
                <a:schemeClr val="dk1"/>
              </a:solidFill>
              <a:latin typeface="Calibri"/>
              <a:ea typeface="Calibri"/>
              <a:cs typeface="Calibri"/>
              <a:sym typeface="Calibri"/>
            </a:endParaRPr>
          </a:p>
        </p:txBody>
      </p:sp>
      <p:sp>
        <p:nvSpPr>
          <p:cNvPr id="64" name="Google Shape;64;p5"/>
          <p:cNvSpPr/>
          <p:nvPr/>
        </p:nvSpPr>
        <p:spPr>
          <a:xfrm>
            <a:off x="3291840" y="868680"/>
            <a:ext cx="2560320" cy="1188720"/>
          </a:xfrm>
          <a:prstGeom prst="rect">
            <a:avLst/>
          </a:prstGeom>
          <a:solidFill>
            <a:srgbClr val="0369A1"/>
          </a:solidFill>
          <a:ln cap="flat" cmpd="sng" w="12700">
            <a:solidFill>
              <a:srgbClr val="0369A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5"/>
          <p:cNvSpPr/>
          <p:nvPr/>
        </p:nvSpPr>
        <p:spPr>
          <a:xfrm>
            <a:off x="3291840" y="941832"/>
            <a:ext cx="2560320" cy="6537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8-bit×8-bit</a:t>
            </a:r>
            <a:endParaRPr sz="3600">
              <a:solidFill>
                <a:schemeClr val="dk1"/>
              </a:solidFill>
              <a:latin typeface="Calibri"/>
              <a:ea typeface="Calibri"/>
              <a:cs typeface="Calibri"/>
              <a:sym typeface="Calibri"/>
            </a:endParaRPr>
          </a:p>
        </p:txBody>
      </p:sp>
      <p:sp>
        <p:nvSpPr>
          <p:cNvPr id="66" name="Google Shape;66;p5"/>
          <p:cNvSpPr/>
          <p:nvPr/>
        </p:nvSpPr>
        <p:spPr>
          <a:xfrm>
            <a:off x="3291840" y="1558138"/>
            <a:ext cx="2560320" cy="45171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Integer MAC: industry standard</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for DNN inference</a:t>
            </a:r>
            <a:endParaRPr sz="1100">
              <a:solidFill>
                <a:schemeClr val="dk1"/>
              </a:solidFill>
              <a:latin typeface="Calibri"/>
              <a:ea typeface="Calibri"/>
              <a:cs typeface="Calibri"/>
              <a:sym typeface="Calibri"/>
            </a:endParaRPr>
          </a:p>
        </p:txBody>
      </p:sp>
      <p:sp>
        <p:nvSpPr>
          <p:cNvPr id="67" name="Google Shape;67;p5"/>
          <p:cNvSpPr/>
          <p:nvPr/>
        </p:nvSpPr>
        <p:spPr>
          <a:xfrm>
            <a:off x="6172200" y="868680"/>
            <a:ext cx="2560320" cy="1188720"/>
          </a:xfrm>
          <a:prstGeom prst="rect">
            <a:avLst/>
          </a:prstGeom>
          <a:solidFill>
            <a:srgbClr val="7C3AED"/>
          </a:solidFill>
          <a:ln cap="flat" cmpd="sng" w="12700">
            <a:solidFill>
              <a:srgbClr val="7C3AED"/>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5"/>
          <p:cNvSpPr/>
          <p:nvPr/>
        </p:nvSpPr>
        <p:spPr>
          <a:xfrm>
            <a:off x="6172200" y="941832"/>
            <a:ext cx="2560320" cy="6537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~30%</a:t>
            </a:r>
            <a:endParaRPr sz="3600">
              <a:solidFill>
                <a:schemeClr val="dk1"/>
              </a:solidFill>
              <a:latin typeface="Calibri"/>
              <a:ea typeface="Calibri"/>
              <a:cs typeface="Calibri"/>
              <a:sym typeface="Calibri"/>
            </a:endParaRPr>
          </a:p>
        </p:txBody>
      </p:sp>
      <p:sp>
        <p:nvSpPr>
          <p:cNvPr id="69" name="Google Shape;69;p5"/>
          <p:cNvSpPr/>
          <p:nvPr/>
        </p:nvSpPr>
        <p:spPr>
          <a:xfrm>
            <a:off x="6172200" y="1558138"/>
            <a:ext cx="2560320" cy="45171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of datacenter power from</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compute alone</a:t>
            </a:r>
            <a:endParaRPr sz="1100">
              <a:solidFill>
                <a:schemeClr val="dk1"/>
              </a:solidFill>
              <a:latin typeface="Calibri"/>
              <a:ea typeface="Calibri"/>
              <a:cs typeface="Calibri"/>
              <a:sym typeface="Calibri"/>
            </a:endParaRPr>
          </a:p>
        </p:txBody>
      </p:sp>
      <p:sp>
        <p:nvSpPr>
          <p:cNvPr id="70" name="Google Shape;70;p5"/>
          <p:cNvSpPr/>
          <p:nvPr/>
        </p:nvSpPr>
        <p:spPr>
          <a:xfrm>
            <a:off x="411480" y="2286000"/>
            <a:ext cx="4023360" cy="246888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5"/>
          <p:cNvSpPr/>
          <p:nvPr/>
        </p:nvSpPr>
        <p:spPr>
          <a:xfrm>
            <a:off x="411480" y="2286000"/>
            <a:ext cx="64008" cy="2468880"/>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5"/>
          <p:cNvSpPr/>
          <p:nvPr/>
        </p:nvSpPr>
        <p:spPr>
          <a:xfrm>
            <a:off x="539496" y="2359152"/>
            <a:ext cx="385876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The Bottleneck</a:t>
            </a:r>
            <a:endParaRPr sz="1300">
              <a:solidFill>
                <a:schemeClr val="dk1"/>
              </a:solidFill>
              <a:latin typeface="Calibri"/>
              <a:ea typeface="Calibri"/>
              <a:cs typeface="Calibri"/>
              <a:sym typeface="Calibri"/>
            </a:endParaRPr>
          </a:p>
        </p:txBody>
      </p:sp>
      <p:sp>
        <p:nvSpPr>
          <p:cNvPr id="73" name="Google Shape;73;p5"/>
          <p:cNvSpPr/>
          <p:nvPr/>
        </p:nvSpPr>
        <p:spPr>
          <a:xfrm>
            <a:off x="539496" y="2633472"/>
            <a:ext cx="3858768"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Modern deep neural networks require billions of multiply-accumulate (MAC) operations per inference. On standard 8-bit binary hardware, each MAC requires a full 8×8 bit multiplier — expensive in area and power.</a:t>
            </a:r>
            <a:endParaRPr sz="1100">
              <a:solidFill>
                <a:schemeClr val="dk1"/>
              </a:solidFill>
              <a:latin typeface="Calibri"/>
              <a:ea typeface="Calibri"/>
              <a:cs typeface="Calibri"/>
              <a:sym typeface="Calibri"/>
            </a:endParaRPr>
          </a:p>
        </p:txBody>
      </p:sp>
      <p:sp>
        <p:nvSpPr>
          <p:cNvPr id="74" name="Google Shape;74;p5"/>
          <p:cNvSpPr/>
          <p:nvPr/>
        </p:nvSpPr>
        <p:spPr>
          <a:xfrm>
            <a:off x="4663440" y="2286000"/>
            <a:ext cx="4069080" cy="246888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5"/>
          <p:cNvSpPr/>
          <p:nvPr/>
        </p:nvSpPr>
        <p:spPr>
          <a:xfrm>
            <a:off x="4663440" y="2286000"/>
            <a:ext cx="64008" cy="2468880"/>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5"/>
          <p:cNvSpPr/>
          <p:nvPr/>
        </p:nvSpPr>
        <p:spPr>
          <a:xfrm>
            <a:off x="4791456" y="2359152"/>
            <a:ext cx="39044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Our Hypothesis</a:t>
            </a:r>
            <a:endParaRPr sz="1300">
              <a:solidFill>
                <a:schemeClr val="dk1"/>
              </a:solidFill>
              <a:latin typeface="Calibri"/>
              <a:ea typeface="Calibri"/>
              <a:cs typeface="Calibri"/>
              <a:sym typeface="Calibri"/>
            </a:endParaRPr>
          </a:p>
        </p:txBody>
      </p:sp>
      <p:sp>
        <p:nvSpPr>
          <p:cNvPr id="77" name="Google Shape;77;p5"/>
          <p:cNvSpPr/>
          <p:nvPr/>
        </p:nvSpPr>
        <p:spPr>
          <a:xfrm>
            <a:off x="4791456" y="2633472"/>
            <a:ext cx="3904488"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Ternary-quantized weights {-1, 0, +1} replace expensive multipliers with mux-based operations. Extending to multi-trit precision could achieve better accuracy while keeping hardware cheaper than INT8.</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6"/>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6"/>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Background: Binary vs. Balanced Ternary</a:t>
            </a:r>
            <a:endParaRPr sz="2400">
              <a:solidFill>
                <a:schemeClr val="dk1"/>
              </a:solidFill>
              <a:latin typeface="Calibri"/>
              <a:ea typeface="Calibri"/>
              <a:cs typeface="Calibri"/>
              <a:sym typeface="Calibri"/>
            </a:endParaRPr>
          </a:p>
        </p:txBody>
      </p:sp>
      <p:sp>
        <p:nvSpPr>
          <p:cNvPr id="85" name="Google Shape;85;p6"/>
          <p:cNvSpPr/>
          <p:nvPr/>
        </p:nvSpPr>
        <p:spPr>
          <a:xfrm>
            <a:off x="411480" y="822960"/>
            <a:ext cx="3840480" cy="3931920"/>
          </a:xfrm>
          <a:prstGeom prst="rect">
            <a:avLst/>
          </a:prstGeom>
          <a:solidFill>
            <a:srgbClr val="F1F5F9"/>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6"/>
          <p:cNvSpPr/>
          <p:nvPr/>
        </p:nvSpPr>
        <p:spPr>
          <a:xfrm>
            <a:off x="502920" y="91440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400"/>
              <a:buFont typeface="Calibri"/>
              <a:buNone/>
            </a:pPr>
            <a:r>
              <a:rPr b="1" lang="en-US" sz="1400">
                <a:solidFill>
                  <a:srgbClr val="1E1B2E"/>
                </a:solidFill>
                <a:latin typeface="Calibri"/>
                <a:ea typeface="Calibri"/>
                <a:cs typeface="Calibri"/>
                <a:sym typeface="Calibri"/>
              </a:rPr>
              <a:t>Binary (Standard)</a:t>
            </a:r>
            <a:endParaRPr sz="1400">
              <a:solidFill>
                <a:schemeClr val="dk1"/>
              </a:solidFill>
              <a:latin typeface="Calibri"/>
              <a:ea typeface="Calibri"/>
              <a:cs typeface="Calibri"/>
              <a:sym typeface="Calibri"/>
            </a:endParaRPr>
          </a:p>
        </p:txBody>
      </p:sp>
      <p:sp>
        <p:nvSpPr>
          <p:cNvPr id="87" name="Google Shape;87;p6"/>
          <p:cNvSpPr/>
          <p:nvPr/>
        </p:nvSpPr>
        <p:spPr>
          <a:xfrm>
            <a:off x="594360" y="1270000"/>
            <a:ext cx="3566160" cy="14605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Digits: {0, 1}  —  2 values per digit</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16-bit weight: 65,536 distinct values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8×8 multiplier: 16 partial product rows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Sign-extension overhead for negatives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Two's complement: sign bit complicates</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rgbClr val="1E1B2E"/>
                </a:solidFill>
                <a:latin typeface="Calibri"/>
                <a:ea typeface="Calibri"/>
                <a:cs typeface="Calibri"/>
                <a:sym typeface="Calibri"/>
              </a:rPr>
              <a:t>           </a:t>
            </a:r>
            <a:r>
              <a:rPr lang="en-US" sz="1100">
                <a:solidFill>
                  <a:srgbClr val="1E1B2E"/>
                </a:solidFill>
                <a:latin typeface="Calibri"/>
                <a:ea typeface="Calibri"/>
                <a:cs typeface="Calibri"/>
                <a:sym typeface="Calibri"/>
              </a:rPr>
              <a:t>partial product summation</a:t>
            </a:r>
            <a:endParaRPr sz="1100">
              <a:solidFill>
                <a:schemeClr val="dk1"/>
              </a:solidFill>
              <a:latin typeface="Calibri"/>
              <a:ea typeface="Calibri"/>
              <a:cs typeface="Calibri"/>
              <a:sym typeface="Calibri"/>
            </a:endParaRPr>
          </a:p>
        </p:txBody>
      </p:sp>
      <p:sp>
        <p:nvSpPr>
          <p:cNvPr id="88" name="Google Shape;88;p6"/>
          <p:cNvSpPr/>
          <p:nvPr/>
        </p:nvSpPr>
        <p:spPr>
          <a:xfrm>
            <a:off x="4892040" y="822960"/>
            <a:ext cx="3840480" cy="3931920"/>
          </a:xfrm>
          <a:prstGeom prst="rect">
            <a:avLst/>
          </a:prstGeom>
          <a:solidFill>
            <a:srgbClr val="EDE9F8"/>
          </a:solidFill>
          <a:ln cap="flat" cmpd="sng" w="12700">
            <a:solidFill>
              <a:srgbClr val="C4B5FD"/>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6"/>
          <p:cNvSpPr/>
          <p:nvPr/>
        </p:nvSpPr>
        <p:spPr>
          <a:xfrm>
            <a:off x="4983480" y="91440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Balanced Ternary</a:t>
            </a:r>
            <a:endParaRPr sz="1400">
              <a:solidFill>
                <a:schemeClr val="dk1"/>
              </a:solidFill>
              <a:latin typeface="Calibri"/>
              <a:ea typeface="Calibri"/>
              <a:cs typeface="Calibri"/>
              <a:sym typeface="Calibri"/>
            </a:endParaRPr>
          </a:p>
        </p:txBody>
      </p:sp>
      <p:sp>
        <p:nvSpPr>
          <p:cNvPr id="90" name="Google Shape;90;p6"/>
          <p:cNvSpPr/>
          <p:nvPr/>
        </p:nvSpPr>
        <p:spPr>
          <a:xfrm>
            <a:off x="4983480" y="1270000"/>
            <a:ext cx="3566160" cy="14605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0050"/>
              </a:buClr>
              <a:buSzPts val="1100"/>
              <a:buFont typeface="Calibri"/>
              <a:buChar char="•"/>
            </a:pPr>
            <a:r>
              <a:rPr lang="en-US" sz="1100">
                <a:solidFill>
                  <a:srgbClr val="330050"/>
                </a:solidFill>
                <a:latin typeface="Calibri"/>
                <a:ea typeface="Calibri"/>
                <a:cs typeface="Calibri"/>
                <a:sym typeface="Calibri"/>
              </a:rPr>
              <a:t>Digits: {-1, 0, +1}  —  3 values per digit</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30050"/>
              </a:buClr>
              <a:buSzPts val="1100"/>
              <a:buFont typeface="Calibri"/>
              <a:buChar char="•"/>
            </a:pPr>
            <a:r>
              <a:rPr lang="en-US" sz="1100">
                <a:solidFill>
                  <a:srgbClr val="330050"/>
                </a:solidFill>
                <a:latin typeface="Calibri"/>
                <a:ea typeface="Calibri"/>
                <a:cs typeface="Calibri"/>
                <a:sym typeface="Calibri"/>
              </a:rPr>
              <a:t>11-trit weight: 177,147 distinct values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30050"/>
              </a:buClr>
              <a:buSzPts val="1100"/>
              <a:buFont typeface="Calibri"/>
              <a:buChar char="•"/>
            </a:pPr>
            <a:r>
              <a:rPr lang="en-US" sz="1100">
                <a:solidFill>
                  <a:srgbClr val="330050"/>
                </a:solidFill>
                <a:latin typeface="Calibri"/>
                <a:ea typeface="Calibri"/>
                <a:cs typeface="Calibri"/>
                <a:sym typeface="Calibri"/>
              </a:rPr>
              <a:t>11×11 multiplier: only 11 partial rows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30050"/>
              </a:buClr>
              <a:buSzPts val="1100"/>
              <a:buFont typeface="Calibri"/>
              <a:buChar char="•"/>
            </a:pPr>
            <a:r>
              <a:rPr lang="en-US" sz="1100">
                <a:solidFill>
                  <a:srgbClr val="330050"/>
                </a:solidFill>
                <a:latin typeface="Calibri"/>
                <a:ea typeface="Calibri"/>
                <a:cs typeface="Calibri"/>
                <a:sym typeface="Calibri"/>
              </a:rPr>
              <a:t>Negation is FREE — just swap wires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30050"/>
              </a:buClr>
              <a:buSzPts val="1100"/>
              <a:buFont typeface="Calibri"/>
              <a:buChar char="•"/>
            </a:pPr>
            <a:r>
              <a:rPr lang="en-US" sz="1100">
                <a:solidFill>
                  <a:srgbClr val="330050"/>
                </a:solidFill>
                <a:latin typeface="Calibri"/>
                <a:ea typeface="Calibri"/>
                <a:cs typeface="Calibri"/>
                <a:sym typeface="Calibri"/>
              </a:rPr>
              <a:t>No sign extension needed — every</a:t>
            </a:r>
            <a:r>
              <a:rPr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           t</a:t>
            </a:r>
            <a:r>
              <a:rPr lang="en-US" sz="1100">
                <a:solidFill>
                  <a:srgbClr val="330050"/>
                </a:solidFill>
                <a:latin typeface="Calibri"/>
                <a:ea typeface="Calibri"/>
                <a:cs typeface="Calibri"/>
                <a:sym typeface="Calibri"/>
              </a:rPr>
              <a:t>rit carries its own sign</a:t>
            </a:r>
            <a:endParaRPr sz="1100">
              <a:solidFill>
                <a:schemeClr val="dk1"/>
              </a:solidFill>
              <a:latin typeface="Calibri"/>
              <a:ea typeface="Calibri"/>
              <a:cs typeface="Calibri"/>
              <a:sym typeface="Calibri"/>
            </a:endParaRPr>
          </a:p>
        </p:txBody>
      </p:sp>
      <p:sp>
        <p:nvSpPr>
          <p:cNvPr id="91" name="Google Shape;91;p6"/>
          <p:cNvSpPr/>
          <p:nvPr/>
        </p:nvSpPr>
        <p:spPr>
          <a:xfrm>
            <a:off x="4160520" y="2377440"/>
            <a:ext cx="822960" cy="822960"/>
          </a:xfrm>
          <a:prstGeom prst="ellipse">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6"/>
          <p:cNvSpPr/>
          <p:nvPr/>
        </p:nvSpPr>
        <p:spPr>
          <a:xfrm>
            <a:off x="4160520" y="237744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0050"/>
              </a:buClr>
              <a:buSzPts val="1600"/>
              <a:buFont typeface="Calibri"/>
              <a:buNone/>
            </a:pPr>
            <a:r>
              <a:rPr b="1" lang="en-US" sz="1600">
                <a:solidFill>
                  <a:srgbClr val="330050"/>
                </a:solidFill>
                <a:latin typeface="Calibri"/>
                <a:ea typeface="Calibri"/>
                <a:cs typeface="Calibri"/>
                <a:sym typeface="Calibri"/>
              </a:rPr>
              <a:t>VS</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7"/>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7"/>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Background: Ternary Encoding &amp; MAC Operation</a:t>
            </a:r>
            <a:endParaRPr sz="2400">
              <a:solidFill>
                <a:schemeClr val="dk1"/>
              </a:solidFill>
              <a:latin typeface="Calibri"/>
              <a:ea typeface="Calibri"/>
              <a:cs typeface="Calibri"/>
              <a:sym typeface="Calibri"/>
            </a:endParaRPr>
          </a:p>
        </p:txBody>
      </p:sp>
      <p:sp>
        <p:nvSpPr>
          <p:cNvPr id="100" name="Google Shape;100;p7"/>
          <p:cNvSpPr/>
          <p:nvPr/>
        </p:nvSpPr>
        <p:spPr>
          <a:xfrm>
            <a:off x="411480" y="822960"/>
            <a:ext cx="4114800" cy="18288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7"/>
          <p:cNvSpPr/>
          <p:nvPr/>
        </p:nvSpPr>
        <p:spPr>
          <a:xfrm>
            <a:off x="548640" y="8869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One-Hot Per-Sign Encoding</a:t>
            </a:r>
            <a:endParaRPr sz="1300">
              <a:solidFill>
                <a:schemeClr val="dk1"/>
              </a:solidFill>
              <a:latin typeface="Calibri"/>
              <a:ea typeface="Calibri"/>
              <a:cs typeface="Calibri"/>
              <a:sym typeface="Calibri"/>
            </a:endParaRPr>
          </a:p>
        </p:txBody>
      </p:sp>
      <p:sp>
        <p:nvSpPr>
          <p:cNvPr id="102" name="Google Shape;102;p7"/>
          <p:cNvSpPr/>
          <p:nvPr/>
        </p:nvSpPr>
        <p:spPr>
          <a:xfrm>
            <a:off x="548640" y="1234440"/>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onsolas"/>
              <a:buNone/>
            </a:pPr>
            <a:r>
              <a:rPr lang="en-US" sz="1100">
                <a:solidFill>
                  <a:srgbClr val="1E1B2E"/>
                </a:solidFill>
                <a:latin typeface="Consolas"/>
                <a:ea typeface="Consolas"/>
                <a:cs typeface="Consolas"/>
                <a:sym typeface="Consolas"/>
              </a:rPr>
              <a:t>{neg=0, pos=0}</a:t>
            </a:r>
            <a:endParaRPr sz="1100">
              <a:solidFill>
                <a:schemeClr val="dk1"/>
              </a:solidFill>
              <a:latin typeface="Calibri"/>
              <a:ea typeface="Calibri"/>
              <a:cs typeface="Calibri"/>
              <a:sym typeface="Calibri"/>
            </a:endParaRPr>
          </a:p>
        </p:txBody>
      </p:sp>
      <p:sp>
        <p:nvSpPr>
          <p:cNvPr id="103" name="Google Shape;103;p7"/>
          <p:cNvSpPr/>
          <p:nvPr/>
        </p:nvSpPr>
        <p:spPr>
          <a:xfrm>
            <a:off x="2468880" y="1234440"/>
            <a:ext cx="274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04" name="Google Shape;104;p7"/>
          <p:cNvSpPr/>
          <p:nvPr/>
        </p:nvSpPr>
        <p:spPr>
          <a:xfrm>
            <a:off x="2743200" y="123444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0 (zero)</a:t>
            </a:r>
            <a:endParaRPr sz="1100">
              <a:solidFill>
                <a:schemeClr val="dk1"/>
              </a:solidFill>
              <a:latin typeface="Calibri"/>
              <a:ea typeface="Calibri"/>
              <a:cs typeface="Calibri"/>
              <a:sym typeface="Calibri"/>
            </a:endParaRPr>
          </a:p>
        </p:txBody>
      </p:sp>
      <p:sp>
        <p:nvSpPr>
          <p:cNvPr id="105" name="Google Shape;105;p7"/>
          <p:cNvSpPr/>
          <p:nvPr/>
        </p:nvSpPr>
        <p:spPr>
          <a:xfrm>
            <a:off x="548640" y="1536192"/>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onsolas"/>
              <a:buNone/>
            </a:pPr>
            <a:r>
              <a:rPr lang="en-US" sz="1100">
                <a:solidFill>
                  <a:srgbClr val="1E1B2E"/>
                </a:solidFill>
                <a:latin typeface="Consolas"/>
                <a:ea typeface="Consolas"/>
                <a:cs typeface="Consolas"/>
                <a:sym typeface="Consolas"/>
              </a:rPr>
              <a:t>{neg=0, pos=1}</a:t>
            </a:r>
            <a:endParaRPr sz="1100">
              <a:solidFill>
                <a:schemeClr val="dk1"/>
              </a:solidFill>
              <a:latin typeface="Calibri"/>
              <a:ea typeface="Calibri"/>
              <a:cs typeface="Calibri"/>
              <a:sym typeface="Calibri"/>
            </a:endParaRPr>
          </a:p>
        </p:txBody>
      </p:sp>
      <p:sp>
        <p:nvSpPr>
          <p:cNvPr id="106" name="Google Shape;106;p7"/>
          <p:cNvSpPr/>
          <p:nvPr/>
        </p:nvSpPr>
        <p:spPr>
          <a:xfrm>
            <a:off x="2468880" y="1536192"/>
            <a:ext cx="274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07" name="Google Shape;107;p7"/>
          <p:cNvSpPr/>
          <p:nvPr/>
        </p:nvSpPr>
        <p:spPr>
          <a:xfrm>
            <a:off x="2743200" y="1536192"/>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100"/>
              <a:buFont typeface="Calibri"/>
              <a:buNone/>
            </a:pPr>
            <a:r>
              <a:rPr b="1" lang="en-US" sz="1100">
                <a:solidFill>
                  <a:srgbClr val="059669"/>
                </a:solidFill>
                <a:latin typeface="Calibri"/>
                <a:ea typeface="Calibri"/>
                <a:cs typeface="Calibri"/>
                <a:sym typeface="Calibri"/>
              </a:rPr>
              <a:t>+1 (positive)</a:t>
            </a:r>
            <a:endParaRPr sz="1100">
              <a:solidFill>
                <a:schemeClr val="dk1"/>
              </a:solidFill>
              <a:latin typeface="Calibri"/>
              <a:ea typeface="Calibri"/>
              <a:cs typeface="Calibri"/>
              <a:sym typeface="Calibri"/>
            </a:endParaRPr>
          </a:p>
        </p:txBody>
      </p:sp>
      <p:sp>
        <p:nvSpPr>
          <p:cNvPr id="108" name="Google Shape;108;p7"/>
          <p:cNvSpPr/>
          <p:nvPr/>
        </p:nvSpPr>
        <p:spPr>
          <a:xfrm>
            <a:off x="548640" y="1837944"/>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onsolas"/>
              <a:buNone/>
            </a:pPr>
            <a:r>
              <a:rPr lang="en-US" sz="1100">
                <a:solidFill>
                  <a:srgbClr val="1E1B2E"/>
                </a:solidFill>
                <a:latin typeface="Consolas"/>
                <a:ea typeface="Consolas"/>
                <a:cs typeface="Consolas"/>
                <a:sym typeface="Consolas"/>
              </a:rPr>
              <a:t>{neg=1, pos=0}</a:t>
            </a:r>
            <a:endParaRPr sz="1100">
              <a:solidFill>
                <a:schemeClr val="dk1"/>
              </a:solidFill>
              <a:latin typeface="Calibri"/>
              <a:ea typeface="Calibri"/>
              <a:cs typeface="Calibri"/>
              <a:sym typeface="Calibri"/>
            </a:endParaRPr>
          </a:p>
        </p:txBody>
      </p:sp>
      <p:sp>
        <p:nvSpPr>
          <p:cNvPr id="109" name="Google Shape;109;p7"/>
          <p:cNvSpPr/>
          <p:nvPr/>
        </p:nvSpPr>
        <p:spPr>
          <a:xfrm>
            <a:off x="2468880" y="1837944"/>
            <a:ext cx="274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10" name="Google Shape;110;p7"/>
          <p:cNvSpPr/>
          <p:nvPr/>
        </p:nvSpPr>
        <p:spPr>
          <a:xfrm>
            <a:off x="2743200" y="1837944"/>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alibri"/>
              <a:buNone/>
            </a:pPr>
            <a:r>
              <a:rPr b="1" lang="en-US" sz="1100">
                <a:solidFill>
                  <a:srgbClr val="DC2626"/>
                </a:solidFill>
                <a:latin typeface="Calibri"/>
                <a:ea typeface="Calibri"/>
                <a:cs typeface="Calibri"/>
                <a:sym typeface="Calibri"/>
              </a:rPr>
              <a:t>−1 (negative)</a:t>
            </a:r>
            <a:endParaRPr sz="1100">
              <a:solidFill>
                <a:schemeClr val="dk1"/>
              </a:solidFill>
              <a:latin typeface="Calibri"/>
              <a:ea typeface="Calibri"/>
              <a:cs typeface="Calibri"/>
              <a:sym typeface="Calibri"/>
            </a:endParaRPr>
          </a:p>
        </p:txBody>
      </p:sp>
      <p:sp>
        <p:nvSpPr>
          <p:cNvPr id="111" name="Google Shape;111;p7"/>
          <p:cNvSpPr/>
          <p:nvPr/>
        </p:nvSpPr>
        <p:spPr>
          <a:xfrm>
            <a:off x="548640" y="2139696"/>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onsolas"/>
              <a:buNone/>
            </a:pPr>
            <a:r>
              <a:rPr lang="en-US" sz="1100">
                <a:solidFill>
                  <a:srgbClr val="1E1B2E"/>
                </a:solidFill>
                <a:latin typeface="Consolas"/>
                <a:ea typeface="Consolas"/>
                <a:cs typeface="Consolas"/>
                <a:sym typeface="Consolas"/>
              </a:rPr>
              <a:t>{neg=1, pos=1}</a:t>
            </a:r>
            <a:endParaRPr sz="1100">
              <a:solidFill>
                <a:schemeClr val="dk1"/>
              </a:solidFill>
              <a:latin typeface="Calibri"/>
              <a:ea typeface="Calibri"/>
              <a:cs typeface="Calibri"/>
              <a:sym typeface="Calibri"/>
            </a:endParaRPr>
          </a:p>
        </p:txBody>
      </p:sp>
      <p:sp>
        <p:nvSpPr>
          <p:cNvPr id="112" name="Google Shape;112;p7"/>
          <p:cNvSpPr/>
          <p:nvPr/>
        </p:nvSpPr>
        <p:spPr>
          <a:xfrm>
            <a:off x="2468880" y="2139696"/>
            <a:ext cx="274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113" name="Google Shape;113;p7"/>
          <p:cNvSpPr/>
          <p:nvPr/>
        </p:nvSpPr>
        <p:spPr>
          <a:xfrm>
            <a:off x="2743200" y="2139696"/>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100"/>
              <a:buFont typeface="Calibri"/>
              <a:buNone/>
            </a:pPr>
            <a:r>
              <a:rPr b="1" lang="en-US" sz="1100">
                <a:solidFill>
                  <a:srgbClr val="B91C1C"/>
                </a:solidFill>
                <a:latin typeface="Calibri"/>
                <a:ea typeface="Calibri"/>
                <a:cs typeface="Calibri"/>
                <a:sym typeface="Calibri"/>
              </a:rPr>
              <a:t>FORBIDDEN</a:t>
            </a:r>
            <a:endParaRPr sz="1100">
              <a:solidFill>
                <a:schemeClr val="dk1"/>
              </a:solidFill>
              <a:latin typeface="Calibri"/>
              <a:ea typeface="Calibri"/>
              <a:cs typeface="Calibri"/>
              <a:sym typeface="Calibri"/>
            </a:endParaRPr>
          </a:p>
        </p:txBody>
      </p:sp>
      <p:sp>
        <p:nvSpPr>
          <p:cNvPr id="114" name="Google Shape;114;p7"/>
          <p:cNvSpPr/>
          <p:nvPr/>
        </p:nvSpPr>
        <p:spPr>
          <a:xfrm>
            <a:off x="411480" y="2788920"/>
            <a:ext cx="4114800" cy="1965960"/>
          </a:xfrm>
          <a:prstGeom prst="rect">
            <a:avLst/>
          </a:prstGeom>
          <a:solidFill>
            <a:srgbClr val="EDE9F8"/>
          </a:solidFill>
          <a:ln cap="flat" cmpd="sng" w="12700">
            <a:solidFill>
              <a:srgbClr val="C4B5FD"/>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7"/>
          <p:cNvSpPr/>
          <p:nvPr/>
        </p:nvSpPr>
        <p:spPr>
          <a:xfrm>
            <a:off x="548640" y="285292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The Key Hardware Insight</a:t>
            </a:r>
            <a:endParaRPr sz="1300">
              <a:solidFill>
                <a:schemeClr val="dk1"/>
              </a:solidFill>
              <a:latin typeface="Calibri"/>
              <a:ea typeface="Calibri"/>
              <a:cs typeface="Calibri"/>
              <a:sym typeface="Calibri"/>
            </a:endParaRPr>
          </a:p>
        </p:txBody>
      </p:sp>
      <p:sp>
        <p:nvSpPr>
          <p:cNvPr id="116" name="Google Shape;116;p7"/>
          <p:cNvSpPr/>
          <p:nvPr/>
        </p:nvSpPr>
        <p:spPr>
          <a:xfrm>
            <a:off x="548640" y="3182112"/>
            <a:ext cx="3840480" cy="1508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7068C"/>
              </a:buClr>
              <a:buSzPts val="1800"/>
              <a:buFont typeface="Calibri"/>
              <a:buNone/>
            </a:pPr>
            <a:r>
              <a:rPr b="1" lang="en-US" sz="1800">
                <a:solidFill>
                  <a:srgbClr val="57068C"/>
                </a:solidFill>
                <a:latin typeface="Calibri"/>
                <a:ea typeface="Calibri"/>
                <a:cs typeface="Calibri"/>
                <a:sym typeface="Calibri"/>
              </a:rPr>
              <a:t>Negation = wire swap </a:t>
            </a:r>
            <a:endParaRPr sz="18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Swapping neg↔pos bits negates a trit — zero gates, zero transistors.</a:t>
            </a:r>
            <a:br>
              <a:rPr lang="en-US" sz="1100">
                <a:solidFill>
                  <a:srgbClr val="1E1B2E"/>
                </a:solidFill>
                <a:latin typeface="Calibri"/>
                <a:ea typeface="Calibri"/>
                <a:cs typeface="Calibri"/>
                <a:sym typeface="Calibri"/>
              </a:rPr>
            </a:br>
            <a:br>
              <a:rPr lang="en-US" sz="1100">
                <a:solidFill>
                  <a:srgbClr val="1E1B2E"/>
                </a:solidFill>
                <a:latin typeface="Calibri"/>
                <a:ea typeface="Calibri"/>
                <a:cs typeface="Calibri"/>
                <a:sym typeface="Calibri"/>
              </a:rPr>
            </a:br>
            <a:r>
              <a:rPr b="1" lang="en-US" sz="1100">
                <a:solidFill>
                  <a:srgbClr val="57068C"/>
                </a:solidFill>
                <a:latin typeface="Calibri"/>
                <a:ea typeface="Calibri"/>
                <a:cs typeface="Calibri"/>
                <a:sym typeface="Calibri"/>
              </a:rPr>
              <a:t>Partial products = 3:1 mux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Each weight trit selects {+x, 0, −x} for the activation — no AND-gate array.</a:t>
            </a:r>
            <a:endParaRPr sz="1100">
              <a:solidFill>
                <a:schemeClr val="dk1"/>
              </a:solidFill>
              <a:latin typeface="Calibri"/>
              <a:ea typeface="Calibri"/>
              <a:cs typeface="Calibri"/>
              <a:sym typeface="Calibri"/>
            </a:endParaRPr>
          </a:p>
        </p:txBody>
      </p:sp>
      <p:sp>
        <p:nvSpPr>
          <p:cNvPr id="117" name="Google Shape;117;p7"/>
          <p:cNvSpPr/>
          <p:nvPr/>
        </p:nvSpPr>
        <p:spPr>
          <a:xfrm>
            <a:off x="4846320" y="822960"/>
            <a:ext cx="3886200" cy="3931920"/>
          </a:xfrm>
          <a:prstGeom prst="rect">
            <a:avLst/>
          </a:prstGeom>
          <a:solidFill>
            <a:srgbClr val="F1F5F9"/>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7"/>
          <p:cNvSpPr/>
          <p:nvPr/>
        </p:nvSpPr>
        <p:spPr>
          <a:xfrm>
            <a:off x="4937760" y="88696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MAC Datapath</a:t>
            </a:r>
            <a:endParaRPr sz="1300">
              <a:solidFill>
                <a:schemeClr val="dk1"/>
              </a:solidFill>
              <a:latin typeface="Calibri"/>
              <a:ea typeface="Calibri"/>
              <a:cs typeface="Calibri"/>
              <a:sym typeface="Calibri"/>
            </a:endParaRPr>
          </a:p>
        </p:txBody>
      </p:sp>
      <p:sp>
        <p:nvSpPr>
          <p:cNvPr id="119" name="Google Shape;119;p7"/>
          <p:cNvSpPr/>
          <p:nvPr/>
        </p:nvSpPr>
        <p:spPr>
          <a:xfrm>
            <a:off x="5212080" y="1298448"/>
            <a:ext cx="3154680" cy="347472"/>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7"/>
          <p:cNvSpPr/>
          <p:nvPr/>
        </p:nvSpPr>
        <p:spPr>
          <a:xfrm>
            <a:off x="5212080" y="1298448"/>
            <a:ext cx="3154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Weight trits  w[N:0]</a:t>
            </a:r>
            <a:endParaRPr sz="1100">
              <a:solidFill>
                <a:schemeClr val="dk1"/>
              </a:solidFill>
              <a:latin typeface="Calibri"/>
              <a:ea typeface="Calibri"/>
              <a:cs typeface="Calibri"/>
              <a:sym typeface="Calibri"/>
            </a:endParaRPr>
          </a:p>
        </p:txBody>
      </p:sp>
      <p:sp>
        <p:nvSpPr>
          <p:cNvPr id="121" name="Google Shape;121;p7"/>
          <p:cNvSpPr/>
          <p:nvPr/>
        </p:nvSpPr>
        <p:spPr>
          <a:xfrm>
            <a:off x="6739128" y="1645920"/>
            <a:ext cx="54864" cy="201168"/>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7"/>
          <p:cNvSpPr/>
          <p:nvPr/>
        </p:nvSpPr>
        <p:spPr>
          <a:xfrm>
            <a:off x="5212080" y="1847088"/>
            <a:ext cx="3154680" cy="347472"/>
          </a:xfrm>
          <a:prstGeom prst="rect">
            <a:avLst/>
          </a:prstGeom>
          <a:solidFill>
            <a:srgbClr val="0369A1"/>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7"/>
          <p:cNvSpPr/>
          <p:nvPr/>
        </p:nvSpPr>
        <p:spPr>
          <a:xfrm>
            <a:off x="5212080" y="1847088"/>
            <a:ext cx="3154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 MUX banks → {+x, 0, −x}</a:t>
            </a:r>
            <a:endParaRPr sz="1100">
              <a:solidFill>
                <a:schemeClr val="dk1"/>
              </a:solidFill>
              <a:latin typeface="Calibri"/>
              <a:ea typeface="Calibri"/>
              <a:cs typeface="Calibri"/>
              <a:sym typeface="Calibri"/>
            </a:endParaRPr>
          </a:p>
        </p:txBody>
      </p:sp>
      <p:sp>
        <p:nvSpPr>
          <p:cNvPr id="124" name="Google Shape;124;p7"/>
          <p:cNvSpPr/>
          <p:nvPr/>
        </p:nvSpPr>
        <p:spPr>
          <a:xfrm>
            <a:off x="6739128" y="2194560"/>
            <a:ext cx="54864" cy="201168"/>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7"/>
          <p:cNvSpPr/>
          <p:nvPr/>
        </p:nvSpPr>
        <p:spPr>
          <a:xfrm>
            <a:off x="5212080" y="2395728"/>
            <a:ext cx="3154680" cy="347472"/>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7"/>
          <p:cNvSpPr/>
          <p:nvPr/>
        </p:nvSpPr>
        <p:spPr>
          <a:xfrm>
            <a:off x="5212080" y="2395728"/>
            <a:ext cx="3154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N Partial products</a:t>
            </a:r>
            <a:endParaRPr sz="1100">
              <a:solidFill>
                <a:schemeClr val="dk1"/>
              </a:solidFill>
              <a:latin typeface="Calibri"/>
              <a:ea typeface="Calibri"/>
              <a:cs typeface="Calibri"/>
              <a:sym typeface="Calibri"/>
            </a:endParaRPr>
          </a:p>
        </p:txBody>
      </p:sp>
      <p:sp>
        <p:nvSpPr>
          <p:cNvPr id="127" name="Google Shape;127;p7"/>
          <p:cNvSpPr/>
          <p:nvPr/>
        </p:nvSpPr>
        <p:spPr>
          <a:xfrm>
            <a:off x="6739128" y="2743200"/>
            <a:ext cx="54864" cy="201168"/>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7"/>
          <p:cNvSpPr/>
          <p:nvPr/>
        </p:nvSpPr>
        <p:spPr>
          <a:xfrm>
            <a:off x="5212080" y="2944368"/>
            <a:ext cx="3154680" cy="347472"/>
          </a:xfrm>
          <a:prstGeom prst="rect">
            <a:avLst/>
          </a:prstGeom>
          <a:solidFill>
            <a:srgbClr val="059669"/>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7"/>
          <p:cNvSpPr/>
          <p:nvPr/>
        </p:nvSpPr>
        <p:spPr>
          <a:xfrm>
            <a:off x="5212080" y="2944368"/>
            <a:ext cx="3154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Scale by 3^j (shift-add)</a:t>
            </a:r>
            <a:endParaRPr sz="1100">
              <a:solidFill>
                <a:schemeClr val="dk1"/>
              </a:solidFill>
              <a:latin typeface="Calibri"/>
              <a:ea typeface="Calibri"/>
              <a:cs typeface="Calibri"/>
              <a:sym typeface="Calibri"/>
            </a:endParaRPr>
          </a:p>
        </p:txBody>
      </p:sp>
      <p:sp>
        <p:nvSpPr>
          <p:cNvPr id="130" name="Google Shape;130;p7"/>
          <p:cNvSpPr/>
          <p:nvPr/>
        </p:nvSpPr>
        <p:spPr>
          <a:xfrm>
            <a:off x="6739128" y="3291840"/>
            <a:ext cx="54864" cy="201168"/>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7"/>
          <p:cNvSpPr/>
          <p:nvPr/>
        </p:nvSpPr>
        <p:spPr>
          <a:xfrm>
            <a:off x="5212080" y="3493008"/>
            <a:ext cx="3154680" cy="347472"/>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7"/>
          <p:cNvSpPr/>
          <p:nvPr/>
        </p:nvSpPr>
        <p:spPr>
          <a:xfrm>
            <a:off x="5212080" y="3493008"/>
            <a:ext cx="3154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Binary adder tree sum</a:t>
            </a:r>
            <a:endParaRPr sz="1100">
              <a:solidFill>
                <a:schemeClr val="dk1"/>
              </a:solidFill>
              <a:latin typeface="Calibri"/>
              <a:ea typeface="Calibri"/>
              <a:cs typeface="Calibri"/>
              <a:sym typeface="Calibri"/>
            </a:endParaRPr>
          </a:p>
        </p:txBody>
      </p:sp>
      <p:sp>
        <p:nvSpPr>
          <p:cNvPr id="133" name="Google Shape;133;p7"/>
          <p:cNvSpPr/>
          <p:nvPr/>
        </p:nvSpPr>
        <p:spPr>
          <a:xfrm>
            <a:off x="6739128" y="3840480"/>
            <a:ext cx="54864" cy="201168"/>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7"/>
          <p:cNvSpPr/>
          <p:nvPr/>
        </p:nvSpPr>
        <p:spPr>
          <a:xfrm>
            <a:off x="5212080" y="4041648"/>
            <a:ext cx="3154680" cy="347472"/>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7"/>
          <p:cNvSpPr/>
          <p:nvPr/>
        </p:nvSpPr>
        <p:spPr>
          <a:xfrm>
            <a:off x="5212080" y="4041648"/>
            <a:ext cx="31546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24-bit Accumulator</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8"/>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8"/>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Methodology: Quantization-Aware Training (QAT)</a:t>
            </a:r>
            <a:endParaRPr sz="2400">
              <a:solidFill>
                <a:schemeClr val="dk1"/>
              </a:solidFill>
              <a:latin typeface="Calibri"/>
              <a:ea typeface="Calibri"/>
              <a:cs typeface="Calibri"/>
              <a:sym typeface="Calibri"/>
            </a:endParaRPr>
          </a:p>
        </p:txBody>
      </p:sp>
      <p:sp>
        <p:nvSpPr>
          <p:cNvPr id="143" name="Google Shape;143;p8"/>
          <p:cNvSpPr/>
          <p:nvPr/>
        </p:nvSpPr>
        <p:spPr>
          <a:xfrm>
            <a:off x="411480" y="822960"/>
            <a:ext cx="1463040" cy="1005840"/>
          </a:xfrm>
          <a:prstGeom prst="rect">
            <a:avLst/>
          </a:prstGeom>
          <a:solidFill>
            <a:srgbClr val="0369A1"/>
          </a:solidFill>
          <a:ln cap="flat" cmpd="sng" w="12700">
            <a:solidFill>
              <a:srgbClr val="0369A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8"/>
          <p:cNvSpPr/>
          <p:nvPr/>
        </p:nvSpPr>
        <p:spPr>
          <a:xfrm>
            <a:off x="411480" y="841248"/>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Pre-train</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ResNet-18</a:t>
            </a:r>
            <a:endParaRPr sz="1200">
              <a:solidFill>
                <a:schemeClr val="dk1"/>
              </a:solidFill>
              <a:latin typeface="Calibri"/>
              <a:ea typeface="Calibri"/>
              <a:cs typeface="Calibri"/>
              <a:sym typeface="Calibri"/>
            </a:endParaRPr>
          </a:p>
        </p:txBody>
      </p:sp>
      <p:sp>
        <p:nvSpPr>
          <p:cNvPr id="145" name="Google Shape;145;p8"/>
          <p:cNvSpPr/>
          <p:nvPr/>
        </p:nvSpPr>
        <p:spPr>
          <a:xfrm>
            <a:off x="411480" y="1280160"/>
            <a:ext cx="1463040" cy="53035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FP32 weights</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CIFAR-10/100</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15 epochs, SGD</a:t>
            </a:r>
            <a:endParaRPr sz="900">
              <a:solidFill>
                <a:schemeClr val="dk1"/>
              </a:solidFill>
              <a:latin typeface="Calibri"/>
              <a:ea typeface="Calibri"/>
              <a:cs typeface="Calibri"/>
              <a:sym typeface="Calibri"/>
            </a:endParaRPr>
          </a:p>
        </p:txBody>
      </p:sp>
      <p:sp>
        <p:nvSpPr>
          <p:cNvPr id="146" name="Google Shape;146;p8"/>
          <p:cNvSpPr/>
          <p:nvPr/>
        </p:nvSpPr>
        <p:spPr>
          <a:xfrm>
            <a:off x="1874520" y="118872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8"/>
          <p:cNvSpPr/>
          <p:nvPr/>
        </p:nvSpPr>
        <p:spPr>
          <a:xfrm>
            <a:off x="2103120" y="822960"/>
            <a:ext cx="1463040" cy="1005840"/>
          </a:xfrm>
          <a:prstGeom prst="rect">
            <a:avLst/>
          </a:prstGeom>
          <a:solidFill>
            <a:srgbClr val="57068C"/>
          </a:solidFill>
          <a:ln cap="flat" cmpd="sng" w="12700">
            <a:solidFill>
              <a:srgbClr val="57068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2103120" y="841248"/>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QAT</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Fine-tune</a:t>
            </a:r>
            <a:endParaRPr sz="1200">
              <a:solidFill>
                <a:schemeClr val="dk1"/>
              </a:solidFill>
              <a:latin typeface="Calibri"/>
              <a:ea typeface="Calibri"/>
              <a:cs typeface="Calibri"/>
              <a:sym typeface="Calibri"/>
            </a:endParaRPr>
          </a:p>
        </p:txBody>
      </p:sp>
      <p:sp>
        <p:nvSpPr>
          <p:cNvPr id="149" name="Google Shape;149;p8"/>
          <p:cNvSpPr/>
          <p:nvPr/>
        </p:nvSpPr>
        <p:spPr>
          <a:xfrm>
            <a:off x="2103120" y="1280160"/>
            <a:ext cx="1463040" cy="53035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Simulate ternary</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weights in forward</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STE backward pass</a:t>
            </a:r>
            <a:endParaRPr sz="900">
              <a:solidFill>
                <a:schemeClr val="dk1"/>
              </a:solidFill>
              <a:latin typeface="Calibri"/>
              <a:ea typeface="Calibri"/>
              <a:cs typeface="Calibri"/>
              <a:sym typeface="Calibri"/>
            </a:endParaRPr>
          </a:p>
        </p:txBody>
      </p:sp>
      <p:sp>
        <p:nvSpPr>
          <p:cNvPr id="150" name="Google Shape;150;p8"/>
          <p:cNvSpPr/>
          <p:nvPr/>
        </p:nvSpPr>
        <p:spPr>
          <a:xfrm>
            <a:off x="3566160" y="118872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8"/>
          <p:cNvSpPr/>
          <p:nvPr/>
        </p:nvSpPr>
        <p:spPr>
          <a:xfrm>
            <a:off x="3794760" y="822960"/>
            <a:ext cx="1463040" cy="1005840"/>
          </a:xfrm>
          <a:prstGeom prst="rect">
            <a:avLst/>
          </a:prstGeom>
          <a:solidFill>
            <a:srgbClr val="8900E1"/>
          </a:solidFill>
          <a:ln cap="flat" cmpd="sng" w="12700">
            <a:solidFill>
              <a:srgbClr val="8900E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
          <p:cNvSpPr/>
          <p:nvPr/>
        </p:nvSpPr>
        <p:spPr>
          <a:xfrm>
            <a:off x="3794760" y="841248"/>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Snap</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Weights</a:t>
            </a:r>
            <a:endParaRPr sz="1200">
              <a:solidFill>
                <a:schemeClr val="dk1"/>
              </a:solidFill>
              <a:latin typeface="Calibri"/>
              <a:ea typeface="Calibri"/>
              <a:cs typeface="Calibri"/>
              <a:sym typeface="Calibri"/>
            </a:endParaRPr>
          </a:p>
        </p:txBody>
      </p:sp>
      <p:sp>
        <p:nvSpPr>
          <p:cNvPr id="153" name="Google Shape;153;p8"/>
          <p:cNvSpPr/>
          <p:nvPr/>
        </p:nvSpPr>
        <p:spPr>
          <a:xfrm>
            <a:off x="3794760" y="1280160"/>
            <a:ext cx="1463040" cy="53035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Convert masters</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to true {−1, 0, +1}</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per threshold α</a:t>
            </a:r>
            <a:endParaRPr sz="900">
              <a:solidFill>
                <a:schemeClr val="dk1"/>
              </a:solidFill>
              <a:latin typeface="Calibri"/>
              <a:ea typeface="Calibri"/>
              <a:cs typeface="Calibri"/>
              <a:sym typeface="Calibri"/>
            </a:endParaRPr>
          </a:p>
        </p:txBody>
      </p:sp>
      <p:sp>
        <p:nvSpPr>
          <p:cNvPr id="154" name="Google Shape;154;p8"/>
          <p:cNvSpPr/>
          <p:nvPr/>
        </p:nvSpPr>
        <p:spPr>
          <a:xfrm>
            <a:off x="5257800" y="118872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8"/>
          <p:cNvSpPr/>
          <p:nvPr/>
        </p:nvSpPr>
        <p:spPr>
          <a:xfrm>
            <a:off x="5486400" y="822960"/>
            <a:ext cx="1463040" cy="1005840"/>
          </a:xfrm>
          <a:prstGeom prst="rect">
            <a:avLst/>
          </a:prstGeom>
          <a:solidFill>
            <a:srgbClr val="0D9488"/>
          </a:solidFill>
          <a:ln cap="flat" cmpd="sng" w="12700">
            <a:solidFill>
              <a:srgbClr val="0D948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8"/>
          <p:cNvSpPr/>
          <p:nvPr/>
        </p:nvSpPr>
        <p:spPr>
          <a:xfrm>
            <a:off x="5486400" y="841248"/>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BatchNorm</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Recalib.</a:t>
            </a:r>
            <a:endParaRPr sz="1200">
              <a:solidFill>
                <a:schemeClr val="dk1"/>
              </a:solidFill>
              <a:latin typeface="Calibri"/>
              <a:ea typeface="Calibri"/>
              <a:cs typeface="Calibri"/>
              <a:sym typeface="Calibri"/>
            </a:endParaRPr>
          </a:p>
        </p:txBody>
      </p:sp>
      <p:sp>
        <p:nvSpPr>
          <p:cNvPr id="157" name="Google Shape;157;p8"/>
          <p:cNvSpPr/>
          <p:nvPr/>
        </p:nvSpPr>
        <p:spPr>
          <a:xfrm>
            <a:off x="5486400" y="1280160"/>
            <a:ext cx="1463040" cy="53035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Re-run 1k images</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in train() mode</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update statistics</a:t>
            </a:r>
            <a:endParaRPr sz="900">
              <a:solidFill>
                <a:schemeClr val="dk1"/>
              </a:solidFill>
              <a:latin typeface="Calibri"/>
              <a:ea typeface="Calibri"/>
              <a:cs typeface="Calibri"/>
              <a:sym typeface="Calibri"/>
            </a:endParaRPr>
          </a:p>
        </p:txBody>
      </p:sp>
      <p:sp>
        <p:nvSpPr>
          <p:cNvPr id="158" name="Google Shape;158;p8"/>
          <p:cNvSpPr/>
          <p:nvPr/>
        </p:nvSpPr>
        <p:spPr>
          <a:xfrm>
            <a:off x="6949440" y="118872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8"/>
          <p:cNvSpPr/>
          <p:nvPr/>
        </p:nvSpPr>
        <p:spPr>
          <a:xfrm>
            <a:off x="7178040" y="822960"/>
            <a:ext cx="1463040" cy="1005840"/>
          </a:xfrm>
          <a:prstGeom prst="rect">
            <a:avLst/>
          </a:prstGeom>
          <a:solidFill>
            <a:srgbClr val="059669"/>
          </a:solidFill>
          <a:ln cap="flat" cmpd="sng" w="12700">
            <a:solidFill>
              <a:srgbClr val="059669"/>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8"/>
          <p:cNvSpPr/>
          <p:nvPr/>
        </p:nvSpPr>
        <p:spPr>
          <a:xfrm>
            <a:off x="7178040" y="841248"/>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Evaluate</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Accuracy</a:t>
            </a:r>
            <a:endParaRPr sz="1200">
              <a:solidFill>
                <a:schemeClr val="dk1"/>
              </a:solidFill>
              <a:latin typeface="Calibri"/>
              <a:ea typeface="Calibri"/>
              <a:cs typeface="Calibri"/>
              <a:sym typeface="Calibri"/>
            </a:endParaRPr>
          </a:p>
        </p:txBody>
      </p:sp>
      <p:sp>
        <p:nvSpPr>
          <p:cNvPr id="161" name="Google Shape;161;p8"/>
          <p:cNvSpPr/>
          <p:nvPr/>
        </p:nvSpPr>
        <p:spPr>
          <a:xfrm>
            <a:off x="7178040" y="1280160"/>
            <a:ext cx="1463040" cy="53035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CIFAR-10/100</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test set</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compare vs FP32</a:t>
            </a:r>
            <a:endParaRPr sz="900">
              <a:solidFill>
                <a:schemeClr val="dk1"/>
              </a:solidFill>
              <a:latin typeface="Calibri"/>
              <a:ea typeface="Calibri"/>
              <a:cs typeface="Calibri"/>
              <a:sym typeface="Calibri"/>
            </a:endParaRPr>
          </a:p>
        </p:txBody>
      </p:sp>
      <p:sp>
        <p:nvSpPr>
          <p:cNvPr id="162" name="Google Shape;162;p8"/>
          <p:cNvSpPr/>
          <p:nvPr/>
        </p:nvSpPr>
        <p:spPr>
          <a:xfrm>
            <a:off x="411480" y="2029968"/>
            <a:ext cx="8321040" cy="1261872"/>
          </a:xfrm>
          <a:prstGeom prst="rect">
            <a:avLst/>
          </a:prstGeom>
          <a:solidFill>
            <a:srgbClr val="EDE9F8"/>
          </a:solidFill>
          <a:ln cap="flat" cmpd="sng" w="12700">
            <a:solidFill>
              <a:srgbClr val="C4B5FD"/>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8"/>
          <p:cNvSpPr/>
          <p:nvPr/>
        </p:nvSpPr>
        <p:spPr>
          <a:xfrm>
            <a:off x="594360" y="2103120"/>
            <a:ext cx="7955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Straight-Through Estimator (STE) — the key trick</a:t>
            </a:r>
            <a:endParaRPr sz="1300">
              <a:solidFill>
                <a:schemeClr val="dk1"/>
              </a:solidFill>
              <a:latin typeface="Calibri"/>
              <a:ea typeface="Calibri"/>
              <a:cs typeface="Calibri"/>
              <a:sym typeface="Calibri"/>
            </a:endParaRPr>
          </a:p>
        </p:txBody>
      </p:sp>
      <p:sp>
        <p:nvSpPr>
          <p:cNvPr id="164" name="Google Shape;164;p8"/>
          <p:cNvSpPr/>
          <p:nvPr/>
        </p:nvSpPr>
        <p:spPr>
          <a:xfrm>
            <a:off x="594360" y="2423160"/>
            <a:ext cx="7955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Ternary snapping is non-differentiable (gradient = 0 everywhere). STE bypasses this: during the forward pass, weights are snapped to {−1, 0, +1}. During backprop, gradients flow straight through as if no quantization occurred. This lets the optimizer adjust real float weights toward values that survive snapping — the network learns to live within ternary constraints.</a:t>
            </a:r>
            <a:endParaRPr sz="1100">
              <a:solidFill>
                <a:schemeClr val="dk1"/>
              </a:solidFill>
              <a:latin typeface="Calibri"/>
              <a:ea typeface="Calibri"/>
              <a:cs typeface="Calibri"/>
              <a:sym typeface="Calibri"/>
            </a:endParaRPr>
          </a:p>
        </p:txBody>
      </p:sp>
      <p:sp>
        <p:nvSpPr>
          <p:cNvPr id="165" name="Google Shape;165;p8"/>
          <p:cNvSpPr/>
          <p:nvPr/>
        </p:nvSpPr>
        <p:spPr>
          <a:xfrm>
            <a:off x="411480" y="3429000"/>
            <a:ext cx="4023360" cy="132588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8"/>
          <p:cNvSpPr/>
          <p:nvPr/>
        </p:nvSpPr>
        <p:spPr>
          <a:xfrm>
            <a:off x="594360" y="3493008"/>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lang="en-US" sz="1200">
                <a:solidFill>
                  <a:srgbClr val="57068C"/>
                </a:solidFill>
                <a:latin typeface="Calibri"/>
                <a:ea typeface="Calibri"/>
                <a:cs typeface="Calibri"/>
                <a:sym typeface="Calibri"/>
              </a:rPr>
              <a:t>CIFAR-10 Result</a:t>
            </a:r>
            <a:endParaRPr sz="1200">
              <a:solidFill>
                <a:schemeClr val="dk1"/>
              </a:solidFill>
              <a:latin typeface="Calibri"/>
              <a:ea typeface="Calibri"/>
              <a:cs typeface="Calibri"/>
              <a:sym typeface="Calibri"/>
            </a:endParaRPr>
          </a:p>
        </p:txBody>
      </p:sp>
      <p:sp>
        <p:nvSpPr>
          <p:cNvPr id="167" name="Google Shape;167;p8"/>
          <p:cNvSpPr/>
          <p:nvPr/>
        </p:nvSpPr>
        <p:spPr>
          <a:xfrm>
            <a:off x="594360" y="3794760"/>
            <a:ext cx="36576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1B2E"/>
              </a:buClr>
              <a:buSzPts val="1200"/>
              <a:buFont typeface="Calibri"/>
              <a:buNone/>
            </a:pPr>
            <a:r>
              <a:rPr b="1" lang="en-US" sz="1200">
                <a:solidFill>
                  <a:srgbClr val="1E1B2E"/>
                </a:solidFill>
                <a:latin typeface="Calibri"/>
                <a:ea typeface="Calibri"/>
                <a:cs typeface="Calibri"/>
                <a:sym typeface="Calibri"/>
              </a:rPr>
              <a:t>FP32 baseline:  </a:t>
            </a:r>
            <a:r>
              <a:rPr lang="en-US" sz="1200">
                <a:solidFill>
                  <a:srgbClr val="1E1B2E"/>
                </a:solidFill>
                <a:latin typeface="Calibri"/>
                <a:ea typeface="Calibri"/>
                <a:cs typeface="Calibri"/>
                <a:sym typeface="Calibri"/>
              </a:rPr>
              <a:t>85.31%</a:t>
            </a:r>
            <a:br>
              <a:rPr lang="en-US" sz="1200">
                <a:solidFill>
                  <a:srgbClr val="1E1B2E"/>
                </a:solidFill>
                <a:latin typeface="Calibri"/>
                <a:ea typeface="Calibri"/>
                <a:cs typeface="Calibri"/>
                <a:sym typeface="Calibri"/>
              </a:rPr>
            </a:br>
            <a:r>
              <a:rPr b="1" lang="en-US" sz="1200">
                <a:solidFill>
                  <a:srgbClr val="1E1B2E"/>
                </a:solidFill>
                <a:latin typeface="Calibri"/>
                <a:ea typeface="Calibri"/>
                <a:cs typeface="Calibri"/>
                <a:sym typeface="Calibri"/>
              </a:rPr>
              <a:t>Ternary QAT (α=0.10):  </a:t>
            </a:r>
            <a:r>
              <a:rPr b="1" lang="en-US" sz="1200">
                <a:solidFill>
                  <a:srgbClr val="059669"/>
                </a:solidFill>
                <a:latin typeface="Calibri"/>
                <a:ea typeface="Calibri"/>
                <a:cs typeface="Calibri"/>
                <a:sym typeface="Calibri"/>
              </a:rPr>
              <a:t>86.66% </a:t>
            </a:r>
            <a:r>
              <a:rPr lang="en-US" sz="1200">
                <a:solidFill>
                  <a:srgbClr val="059669"/>
                </a:solidFill>
                <a:latin typeface="Calibri"/>
                <a:ea typeface="Calibri"/>
                <a:cs typeface="Calibri"/>
                <a:sym typeface="Calibri"/>
              </a:rPr>
              <a:t>(+1.35%) ✓</a:t>
            </a:r>
            <a:endParaRPr sz="1200">
              <a:solidFill>
                <a:schemeClr val="dk1"/>
              </a:solidFill>
              <a:latin typeface="Calibri"/>
              <a:ea typeface="Calibri"/>
              <a:cs typeface="Calibri"/>
              <a:sym typeface="Calibri"/>
            </a:endParaRPr>
          </a:p>
        </p:txBody>
      </p:sp>
      <p:sp>
        <p:nvSpPr>
          <p:cNvPr id="168" name="Google Shape;168;p8"/>
          <p:cNvSpPr/>
          <p:nvPr/>
        </p:nvSpPr>
        <p:spPr>
          <a:xfrm>
            <a:off x="4709160" y="3429000"/>
            <a:ext cx="4023360" cy="132588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4892040" y="3493008"/>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lang="en-US" sz="1200">
                <a:solidFill>
                  <a:srgbClr val="57068C"/>
                </a:solidFill>
                <a:latin typeface="Calibri"/>
                <a:ea typeface="Calibri"/>
                <a:cs typeface="Calibri"/>
                <a:sym typeface="Calibri"/>
              </a:rPr>
              <a:t>CIFAR-100 Result</a:t>
            </a:r>
            <a:endParaRPr sz="1200">
              <a:solidFill>
                <a:schemeClr val="dk1"/>
              </a:solidFill>
              <a:latin typeface="Calibri"/>
              <a:ea typeface="Calibri"/>
              <a:cs typeface="Calibri"/>
              <a:sym typeface="Calibri"/>
            </a:endParaRPr>
          </a:p>
        </p:txBody>
      </p:sp>
      <p:sp>
        <p:nvSpPr>
          <p:cNvPr id="170" name="Google Shape;170;p8"/>
          <p:cNvSpPr/>
          <p:nvPr/>
        </p:nvSpPr>
        <p:spPr>
          <a:xfrm>
            <a:off x="4892040" y="3794760"/>
            <a:ext cx="36576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1B2E"/>
              </a:buClr>
              <a:buSzPts val="1200"/>
              <a:buFont typeface="Calibri"/>
              <a:buNone/>
            </a:pPr>
            <a:r>
              <a:rPr b="1" lang="en-US" sz="1200">
                <a:solidFill>
                  <a:srgbClr val="1E1B2E"/>
                </a:solidFill>
                <a:latin typeface="Calibri"/>
                <a:ea typeface="Calibri"/>
                <a:cs typeface="Calibri"/>
                <a:sym typeface="Calibri"/>
              </a:rPr>
              <a:t>FP32 baseline:  </a:t>
            </a:r>
            <a:r>
              <a:rPr lang="en-US" sz="1200">
                <a:solidFill>
                  <a:srgbClr val="1E1B2E"/>
                </a:solidFill>
                <a:latin typeface="Calibri"/>
                <a:ea typeface="Calibri"/>
                <a:cs typeface="Calibri"/>
                <a:sym typeface="Calibri"/>
              </a:rPr>
              <a:t>61.18%</a:t>
            </a:r>
            <a:br>
              <a:rPr lang="en-US" sz="1200">
                <a:solidFill>
                  <a:srgbClr val="1E1B2E"/>
                </a:solidFill>
                <a:latin typeface="Calibri"/>
                <a:ea typeface="Calibri"/>
                <a:cs typeface="Calibri"/>
                <a:sym typeface="Calibri"/>
              </a:rPr>
            </a:br>
            <a:r>
              <a:rPr b="1" lang="en-US" sz="1200">
                <a:solidFill>
                  <a:srgbClr val="1E1B2E"/>
                </a:solidFill>
                <a:latin typeface="Calibri"/>
                <a:ea typeface="Calibri"/>
                <a:cs typeface="Calibri"/>
                <a:sym typeface="Calibri"/>
              </a:rPr>
              <a:t>Ternary QAT (α=0.10):  </a:t>
            </a:r>
            <a:r>
              <a:rPr b="1" lang="en-US" sz="1200">
                <a:solidFill>
                  <a:srgbClr val="059669"/>
                </a:solidFill>
                <a:latin typeface="Calibri"/>
                <a:ea typeface="Calibri"/>
                <a:cs typeface="Calibri"/>
                <a:sym typeface="Calibri"/>
              </a:rPr>
              <a:t>62.02% </a:t>
            </a:r>
            <a:r>
              <a:rPr lang="en-US" sz="1200">
                <a:solidFill>
                  <a:srgbClr val="059669"/>
                </a:solidFill>
                <a:latin typeface="Calibri"/>
                <a:ea typeface="Calibri"/>
                <a:cs typeface="Calibri"/>
                <a:sym typeface="Calibri"/>
              </a:rPr>
              <a:t>(+0.84%) ✓</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9"/>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9"/>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Methodology: Hardware Design &amp; Synthesis Flow</a:t>
            </a:r>
            <a:endParaRPr sz="2400">
              <a:solidFill>
                <a:schemeClr val="dk1"/>
              </a:solidFill>
              <a:latin typeface="Calibri"/>
              <a:ea typeface="Calibri"/>
              <a:cs typeface="Calibri"/>
              <a:sym typeface="Calibri"/>
            </a:endParaRPr>
          </a:p>
        </p:txBody>
      </p:sp>
      <p:sp>
        <p:nvSpPr>
          <p:cNvPr id="178" name="Google Shape;178;p9"/>
          <p:cNvSpPr/>
          <p:nvPr/>
        </p:nvSpPr>
        <p:spPr>
          <a:xfrm>
            <a:off x="411480" y="822960"/>
            <a:ext cx="1920240" cy="2743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9"/>
          <p:cNvSpPr/>
          <p:nvPr/>
        </p:nvSpPr>
        <p:spPr>
          <a:xfrm>
            <a:off x="411480" y="822960"/>
            <a:ext cx="1920240" cy="502920"/>
          </a:xfrm>
          <a:prstGeom prst="rect">
            <a:avLst/>
          </a:prstGeom>
          <a:solidFill>
            <a:srgbClr val="0369A1"/>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9"/>
          <p:cNvSpPr/>
          <p:nvPr/>
        </p:nvSpPr>
        <p:spPr>
          <a:xfrm>
            <a:off x="411480" y="82296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RTL Design</a:t>
            </a:r>
            <a:endParaRPr sz="1200">
              <a:solidFill>
                <a:schemeClr val="dk1"/>
              </a:solidFill>
              <a:latin typeface="Calibri"/>
              <a:ea typeface="Calibri"/>
              <a:cs typeface="Calibri"/>
              <a:sym typeface="Calibri"/>
            </a:endParaRPr>
          </a:p>
        </p:txBody>
      </p:sp>
      <p:sp>
        <p:nvSpPr>
          <p:cNvPr id="181" name="Google Shape;181;p9"/>
          <p:cNvSpPr/>
          <p:nvPr/>
        </p:nvSpPr>
        <p:spPr>
          <a:xfrm>
            <a:off x="502920" y="1389888"/>
            <a:ext cx="173736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Verilog: ternary MAC,</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bt_full_adder, bt_pp_gen,</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standard_mac (baseline)</a:t>
            </a:r>
            <a:endParaRPr sz="1100">
              <a:solidFill>
                <a:schemeClr val="dk1"/>
              </a:solidFill>
              <a:latin typeface="Calibri"/>
              <a:ea typeface="Calibri"/>
              <a:cs typeface="Calibri"/>
              <a:sym typeface="Calibri"/>
            </a:endParaRPr>
          </a:p>
        </p:txBody>
      </p:sp>
      <p:sp>
        <p:nvSpPr>
          <p:cNvPr id="182" name="Google Shape;182;p9"/>
          <p:cNvSpPr/>
          <p:nvPr/>
        </p:nvSpPr>
        <p:spPr>
          <a:xfrm>
            <a:off x="2331720" y="205740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9"/>
          <p:cNvSpPr/>
          <p:nvPr/>
        </p:nvSpPr>
        <p:spPr>
          <a:xfrm>
            <a:off x="2560320" y="822960"/>
            <a:ext cx="1920240" cy="2743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9"/>
          <p:cNvSpPr/>
          <p:nvPr/>
        </p:nvSpPr>
        <p:spPr>
          <a:xfrm>
            <a:off x="2560320" y="822960"/>
            <a:ext cx="1920240" cy="502920"/>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9"/>
          <p:cNvSpPr/>
          <p:nvPr/>
        </p:nvSpPr>
        <p:spPr>
          <a:xfrm>
            <a:off x="2560320" y="82296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Functional</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Verification</a:t>
            </a:r>
            <a:endParaRPr sz="1200">
              <a:solidFill>
                <a:schemeClr val="dk1"/>
              </a:solidFill>
              <a:latin typeface="Calibri"/>
              <a:ea typeface="Calibri"/>
              <a:cs typeface="Calibri"/>
              <a:sym typeface="Calibri"/>
            </a:endParaRPr>
          </a:p>
        </p:txBody>
      </p:sp>
      <p:sp>
        <p:nvSpPr>
          <p:cNvPr id="186" name="Google Shape;186;p9"/>
          <p:cNvSpPr/>
          <p:nvPr/>
        </p:nvSpPr>
        <p:spPr>
          <a:xfrm>
            <a:off x="2651760" y="1389888"/>
            <a:ext cx="173736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Icarus Verilog sim</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300-800 test vectors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Python golden ref</a:t>
            </a:r>
            <a:endParaRPr sz="1100">
              <a:solidFill>
                <a:schemeClr val="dk1"/>
              </a:solidFill>
              <a:latin typeface="Calibri"/>
              <a:ea typeface="Calibri"/>
              <a:cs typeface="Calibri"/>
              <a:sym typeface="Calibri"/>
            </a:endParaRPr>
          </a:p>
        </p:txBody>
      </p:sp>
      <p:sp>
        <p:nvSpPr>
          <p:cNvPr id="187" name="Google Shape;187;p9"/>
          <p:cNvSpPr/>
          <p:nvPr/>
        </p:nvSpPr>
        <p:spPr>
          <a:xfrm>
            <a:off x="4480560" y="205740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9"/>
          <p:cNvSpPr/>
          <p:nvPr/>
        </p:nvSpPr>
        <p:spPr>
          <a:xfrm>
            <a:off x="4709160" y="822960"/>
            <a:ext cx="1920240" cy="2743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9"/>
          <p:cNvSpPr/>
          <p:nvPr/>
        </p:nvSpPr>
        <p:spPr>
          <a:xfrm>
            <a:off x="4709160" y="822960"/>
            <a:ext cx="1920240" cy="502920"/>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4709160" y="82296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Synthesis</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(Yosys)</a:t>
            </a:r>
            <a:endParaRPr sz="1200">
              <a:solidFill>
                <a:schemeClr val="dk1"/>
              </a:solidFill>
              <a:latin typeface="Calibri"/>
              <a:ea typeface="Calibri"/>
              <a:cs typeface="Calibri"/>
              <a:sym typeface="Calibri"/>
            </a:endParaRPr>
          </a:p>
        </p:txBody>
      </p:sp>
      <p:sp>
        <p:nvSpPr>
          <p:cNvPr id="191" name="Google Shape;191;p9"/>
          <p:cNvSpPr/>
          <p:nvPr/>
        </p:nvSpPr>
        <p:spPr>
          <a:xfrm>
            <a:off x="4800600" y="1389888"/>
            <a:ext cx="173736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abc -g cmos2</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Gate-level netlist</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Cell &amp; transistor count</a:t>
            </a:r>
            <a:endParaRPr sz="1100">
              <a:solidFill>
                <a:schemeClr val="dk1"/>
              </a:solidFill>
              <a:latin typeface="Calibri"/>
              <a:ea typeface="Calibri"/>
              <a:cs typeface="Calibri"/>
              <a:sym typeface="Calibri"/>
            </a:endParaRPr>
          </a:p>
        </p:txBody>
      </p:sp>
      <p:sp>
        <p:nvSpPr>
          <p:cNvPr id="192" name="Google Shape;192;p9"/>
          <p:cNvSpPr/>
          <p:nvPr/>
        </p:nvSpPr>
        <p:spPr>
          <a:xfrm>
            <a:off x="6629400" y="2057400"/>
            <a:ext cx="228600" cy="36576"/>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9"/>
          <p:cNvSpPr/>
          <p:nvPr/>
        </p:nvSpPr>
        <p:spPr>
          <a:xfrm>
            <a:off x="6858000" y="822960"/>
            <a:ext cx="1920240" cy="2743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9"/>
          <p:cNvSpPr/>
          <p:nvPr/>
        </p:nvSpPr>
        <p:spPr>
          <a:xfrm>
            <a:off x="6858000" y="822960"/>
            <a:ext cx="1920240" cy="502920"/>
          </a:xfrm>
          <a:prstGeom prst="rect">
            <a:avLst/>
          </a:prstGeom>
          <a:solidFill>
            <a:srgbClr val="059669"/>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9"/>
          <p:cNvSpPr/>
          <p:nvPr/>
        </p:nvSpPr>
        <p:spPr>
          <a:xfrm>
            <a:off x="6858000" y="82296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Timing &amp; Power</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(OpenSTA)</a:t>
            </a:r>
            <a:endParaRPr sz="1200">
              <a:solidFill>
                <a:schemeClr val="dk1"/>
              </a:solidFill>
              <a:latin typeface="Calibri"/>
              <a:ea typeface="Calibri"/>
              <a:cs typeface="Calibri"/>
              <a:sym typeface="Calibri"/>
            </a:endParaRPr>
          </a:p>
        </p:txBody>
      </p:sp>
      <p:sp>
        <p:nvSpPr>
          <p:cNvPr id="196" name="Google Shape;196;p9"/>
          <p:cNvSpPr/>
          <p:nvPr/>
        </p:nvSpPr>
        <p:spPr>
          <a:xfrm>
            <a:off x="6949440" y="1389888"/>
            <a:ext cx="173736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Nangate45 Liberty</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Critical path delay</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Power analysis</a:t>
            </a:r>
            <a:endParaRPr sz="1100">
              <a:solidFill>
                <a:schemeClr val="dk1"/>
              </a:solidFill>
              <a:latin typeface="Calibri"/>
              <a:ea typeface="Calibri"/>
              <a:cs typeface="Calibri"/>
              <a:sym typeface="Calibri"/>
            </a:endParaRPr>
          </a:p>
        </p:txBody>
      </p:sp>
      <p:sp>
        <p:nvSpPr>
          <p:cNvPr id="197" name="Google Shape;197;p9"/>
          <p:cNvSpPr/>
          <p:nvPr/>
        </p:nvSpPr>
        <p:spPr>
          <a:xfrm>
            <a:off x="411480" y="3749040"/>
            <a:ext cx="8321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Three Designs Compared</a:t>
            </a:r>
            <a:endParaRPr sz="1400">
              <a:solidFill>
                <a:schemeClr val="dk1"/>
              </a:solidFill>
              <a:latin typeface="Calibri"/>
              <a:ea typeface="Calibri"/>
              <a:cs typeface="Calibri"/>
              <a:sym typeface="Calibri"/>
            </a:endParaRPr>
          </a:p>
        </p:txBody>
      </p:sp>
      <p:sp>
        <p:nvSpPr>
          <p:cNvPr id="198" name="Google Shape;198;p9"/>
          <p:cNvSpPr/>
          <p:nvPr/>
        </p:nvSpPr>
        <p:spPr>
          <a:xfrm>
            <a:off x="411480" y="4114800"/>
            <a:ext cx="2651760" cy="86868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9"/>
          <p:cNvSpPr/>
          <p:nvPr/>
        </p:nvSpPr>
        <p:spPr>
          <a:xfrm>
            <a:off x="411480" y="4114800"/>
            <a:ext cx="64008" cy="868680"/>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9"/>
          <p:cNvSpPr/>
          <p:nvPr/>
        </p:nvSpPr>
        <p:spPr>
          <a:xfrm>
            <a:off x="539496" y="4160520"/>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100"/>
              <a:buFont typeface="Calibri"/>
              <a:buNone/>
            </a:pPr>
            <a:r>
              <a:rPr b="1" lang="en-US" sz="1100">
                <a:solidFill>
                  <a:srgbClr val="57068C"/>
                </a:solidFill>
                <a:latin typeface="Calibri"/>
                <a:ea typeface="Calibri"/>
                <a:cs typeface="Calibri"/>
                <a:sym typeface="Calibri"/>
              </a:rPr>
              <a:t>Track A: 1-trit × 8-bit</a:t>
            </a:r>
            <a:endParaRPr sz="1100">
              <a:solidFill>
                <a:schemeClr val="dk1"/>
              </a:solidFill>
              <a:latin typeface="Calibri"/>
              <a:ea typeface="Calibri"/>
              <a:cs typeface="Calibri"/>
              <a:sym typeface="Calibri"/>
            </a:endParaRPr>
          </a:p>
        </p:txBody>
      </p:sp>
      <p:sp>
        <p:nvSpPr>
          <p:cNvPr id="201" name="Google Shape;201;p9"/>
          <p:cNvSpPr/>
          <p:nvPr/>
        </p:nvSpPr>
        <p:spPr>
          <a:xfrm>
            <a:off x="539496" y="4434840"/>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000"/>
              <a:buFont typeface="Calibri"/>
              <a:buNone/>
            </a:pPr>
            <a:r>
              <a:rPr lang="en-US" sz="1000">
                <a:solidFill>
                  <a:srgbClr val="1E1B2E"/>
                </a:solidFill>
                <a:latin typeface="Calibri"/>
                <a:ea typeface="Calibri"/>
                <a:cs typeface="Calibri"/>
                <a:sym typeface="Calibri"/>
              </a:rPr>
              <a:t>Single balanced ternary weight digit,</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000"/>
              <a:buFont typeface="Calibri"/>
              <a:buNone/>
            </a:pPr>
            <a:r>
              <a:rPr lang="en-US" sz="1000">
                <a:solidFill>
                  <a:srgbClr val="1E1B2E"/>
                </a:solidFill>
                <a:latin typeface="Calibri"/>
                <a:ea typeface="Calibri"/>
                <a:cs typeface="Calibri"/>
                <a:sym typeface="Calibri"/>
              </a:rPr>
              <a:t>full 8-bit binary activation</a:t>
            </a:r>
            <a:endParaRPr sz="1000">
              <a:solidFill>
                <a:schemeClr val="dk1"/>
              </a:solidFill>
              <a:latin typeface="Calibri"/>
              <a:ea typeface="Calibri"/>
              <a:cs typeface="Calibri"/>
              <a:sym typeface="Calibri"/>
            </a:endParaRPr>
          </a:p>
        </p:txBody>
      </p:sp>
      <p:sp>
        <p:nvSpPr>
          <p:cNvPr id="202" name="Google Shape;202;p9"/>
          <p:cNvSpPr/>
          <p:nvPr/>
        </p:nvSpPr>
        <p:spPr>
          <a:xfrm>
            <a:off x="3291840" y="4114800"/>
            <a:ext cx="2651760" cy="86868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9"/>
          <p:cNvSpPr/>
          <p:nvPr/>
        </p:nvSpPr>
        <p:spPr>
          <a:xfrm>
            <a:off x="3291840" y="4114800"/>
            <a:ext cx="64008" cy="868680"/>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p:nvPr/>
        </p:nvSpPr>
        <p:spPr>
          <a:xfrm>
            <a:off x="3419856" y="4160520"/>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00E1"/>
              </a:buClr>
              <a:buSzPts val="1100"/>
              <a:buFont typeface="Calibri"/>
              <a:buNone/>
            </a:pPr>
            <a:r>
              <a:rPr b="1" lang="en-US" sz="1100">
                <a:solidFill>
                  <a:srgbClr val="8900E1"/>
                </a:solidFill>
                <a:latin typeface="Calibri"/>
                <a:ea typeface="Calibri"/>
                <a:cs typeface="Calibri"/>
                <a:sym typeface="Calibri"/>
              </a:rPr>
              <a:t>Track B: N-trit × 8-bit</a:t>
            </a:r>
            <a:endParaRPr sz="1100">
              <a:solidFill>
                <a:schemeClr val="dk1"/>
              </a:solidFill>
              <a:latin typeface="Calibri"/>
              <a:ea typeface="Calibri"/>
              <a:cs typeface="Calibri"/>
              <a:sym typeface="Calibri"/>
            </a:endParaRPr>
          </a:p>
        </p:txBody>
      </p:sp>
      <p:sp>
        <p:nvSpPr>
          <p:cNvPr id="205" name="Google Shape;205;p9"/>
          <p:cNvSpPr/>
          <p:nvPr/>
        </p:nvSpPr>
        <p:spPr>
          <a:xfrm>
            <a:off x="3419856" y="4434840"/>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000"/>
              <a:buFont typeface="Calibri"/>
              <a:buNone/>
            </a:pPr>
            <a:r>
              <a:rPr lang="en-US" sz="1000">
                <a:solidFill>
                  <a:srgbClr val="1E1B2E"/>
                </a:solidFill>
                <a:latin typeface="Calibri"/>
                <a:ea typeface="Calibri"/>
                <a:cs typeface="Calibri"/>
                <a:sym typeface="Calibri"/>
              </a:rPr>
              <a:t>Multi-trit weight (N=3,4,5),</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000"/>
              <a:buFont typeface="Calibri"/>
              <a:buNone/>
            </a:pPr>
            <a:r>
              <a:rPr lang="en-US" sz="1000">
                <a:solidFill>
                  <a:srgbClr val="1E1B2E"/>
                </a:solidFill>
                <a:latin typeface="Calibri"/>
                <a:ea typeface="Calibri"/>
                <a:cs typeface="Calibri"/>
                <a:sym typeface="Calibri"/>
              </a:rPr>
              <a:t>full 8-bit binary activation</a:t>
            </a:r>
            <a:endParaRPr sz="1000">
              <a:solidFill>
                <a:schemeClr val="dk1"/>
              </a:solidFill>
              <a:latin typeface="Calibri"/>
              <a:ea typeface="Calibri"/>
              <a:cs typeface="Calibri"/>
              <a:sym typeface="Calibri"/>
            </a:endParaRPr>
          </a:p>
        </p:txBody>
      </p:sp>
      <p:sp>
        <p:nvSpPr>
          <p:cNvPr id="206" name="Google Shape;206;p9"/>
          <p:cNvSpPr/>
          <p:nvPr/>
        </p:nvSpPr>
        <p:spPr>
          <a:xfrm>
            <a:off x="6172200" y="4114800"/>
            <a:ext cx="2651760" cy="86868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9"/>
          <p:cNvSpPr/>
          <p:nvPr/>
        </p:nvSpPr>
        <p:spPr>
          <a:xfrm>
            <a:off x="6172200" y="4114800"/>
            <a:ext cx="64008" cy="868680"/>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9"/>
          <p:cNvSpPr/>
          <p:nvPr/>
        </p:nvSpPr>
        <p:spPr>
          <a:xfrm>
            <a:off x="6300216" y="4160520"/>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Baseline: 8-bit × 8-bit</a:t>
            </a:r>
            <a:endParaRPr sz="1100">
              <a:solidFill>
                <a:schemeClr val="dk1"/>
              </a:solidFill>
              <a:latin typeface="Calibri"/>
              <a:ea typeface="Calibri"/>
              <a:cs typeface="Calibri"/>
              <a:sym typeface="Calibri"/>
            </a:endParaRPr>
          </a:p>
        </p:txBody>
      </p:sp>
      <p:sp>
        <p:nvSpPr>
          <p:cNvPr id="209" name="Google Shape;209;p9"/>
          <p:cNvSpPr/>
          <p:nvPr/>
        </p:nvSpPr>
        <p:spPr>
          <a:xfrm>
            <a:off x="6300216" y="4434840"/>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000"/>
              <a:buFont typeface="Calibri"/>
              <a:buNone/>
            </a:pPr>
            <a:r>
              <a:rPr lang="en-US" sz="1000">
                <a:solidFill>
                  <a:srgbClr val="1E1B2E"/>
                </a:solidFill>
                <a:latin typeface="Calibri"/>
                <a:ea typeface="Calibri"/>
                <a:cs typeface="Calibri"/>
                <a:sym typeface="Calibri"/>
              </a:rPr>
              <a:t>Standard binary INT8 MAC,</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000"/>
              <a:buFont typeface="Calibri"/>
              <a:buNone/>
            </a:pPr>
            <a:r>
              <a:rPr lang="en-US" sz="1000">
                <a:solidFill>
                  <a:srgbClr val="1E1B2E"/>
                </a:solidFill>
                <a:latin typeface="Calibri"/>
                <a:ea typeface="Calibri"/>
                <a:cs typeface="Calibri"/>
                <a:sym typeface="Calibri"/>
              </a:rPr>
              <a:t>Yosys Booth-encoded multiplier</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p:nvPr/>
        </p:nvSpPr>
        <p:spPr>
          <a:xfrm>
            <a:off x="0" y="0"/>
            <a:ext cx="9144000" cy="914400"/>
          </a:xfrm>
          <a:prstGeom prst="rect">
            <a:avLst/>
          </a:prstGeom>
          <a:solidFill>
            <a:srgbClr val="330050"/>
          </a:solidFill>
          <a:ln cap="flat" cmpd="sng" w="12700">
            <a:solidFill>
              <a:srgbClr val="330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365760" y="0"/>
            <a:ext cx="6400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Track A — Single-Trit Ternary Weight MAC</a:t>
            </a:r>
            <a:endParaRPr b="0" i="0" sz="2800" u="none" cap="none" strike="noStrike">
              <a:solidFill>
                <a:srgbClr val="000000"/>
              </a:solidFill>
              <a:latin typeface="Calibri"/>
              <a:ea typeface="Calibri"/>
              <a:cs typeface="Calibri"/>
              <a:sym typeface="Calibri"/>
            </a:endParaRPr>
          </a:p>
        </p:txBody>
      </p:sp>
      <p:sp>
        <p:nvSpPr>
          <p:cNvPr id="216" name="Google Shape;216;p10"/>
          <p:cNvSpPr/>
          <p:nvPr/>
        </p:nvSpPr>
        <p:spPr>
          <a:xfrm>
            <a:off x="6949440" y="182880"/>
            <a:ext cx="1828800" cy="548700"/>
          </a:xfrm>
          <a:prstGeom prst="rect">
            <a:avLst/>
          </a:prstGeom>
          <a:solidFill>
            <a:srgbClr val="F5C518"/>
          </a:solidFill>
          <a:ln cap="flat" cmpd="sng" w="12700">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6949440" y="182880"/>
            <a:ext cx="1828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0050"/>
              </a:buClr>
              <a:buSzPts val="1100"/>
              <a:buFont typeface="Calibri"/>
              <a:buNone/>
            </a:pPr>
            <a:r>
              <a:rPr b="1" i="0" lang="en-US" sz="1100" u="none" cap="none" strike="noStrike">
                <a:solidFill>
                  <a:srgbClr val="330050"/>
                </a:solidFill>
                <a:latin typeface="Calibri"/>
                <a:ea typeface="Calibri"/>
                <a:cs typeface="Calibri"/>
                <a:sym typeface="Calibri"/>
              </a:rPr>
              <a:t>weight ∈ {−1, 0, +1}</a:t>
            </a:r>
            <a:endParaRPr b="0" i="0" sz="1100" u="none" cap="none" strike="noStrike">
              <a:solidFill>
                <a:srgbClr val="000000"/>
              </a:solidFill>
              <a:latin typeface="Calibri"/>
              <a:ea typeface="Calibri"/>
              <a:cs typeface="Calibri"/>
              <a:sym typeface="Calibri"/>
            </a:endParaRPr>
          </a:p>
        </p:txBody>
      </p:sp>
      <p:pic>
        <p:nvPicPr>
          <p:cNvPr descr="preencoded.png" id="218" name="Google Shape;218;p10"/>
          <p:cNvPicPr preferRelativeResize="0"/>
          <p:nvPr/>
        </p:nvPicPr>
        <p:blipFill rotWithShape="1">
          <a:blip r:embed="rId3">
            <a:alphaModFix/>
          </a:blip>
          <a:srcRect b="0" l="0" r="0" t="0"/>
          <a:stretch/>
        </p:blipFill>
        <p:spPr>
          <a:xfrm>
            <a:off x="55650" y="1082375"/>
            <a:ext cx="9032701" cy="3362175"/>
          </a:xfrm>
          <a:prstGeom prst="rect">
            <a:avLst/>
          </a:prstGeom>
          <a:noFill/>
          <a:ln>
            <a:noFill/>
          </a:ln>
        </p:spPr>
      </p:pic>
      <p:sp>
        <p:nvSpPr>
          <p:cNvPr id="219" name="Google Shape;219;p10"/>
          <p:cNvSpPr/>
          <p:nvPr/>
        </p:nvSpPr>
        <p:spPr>
          <a:xfrm>
            <a:off x="1443920" y="4444540"/>
            <a:ext cx="4023300" cy="7131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1443923" y="4499399"/>
            <a:ext cx="54900" cy="658200"/>
          </a:xfrm>
          <a:prstGeom prst="rect">
            <a:avLst/>
          </a:prstGeom>
          <a:solidFill>
            <a:srgbClr val="57068C"/>
          </a:solidFill>
          <a:ln cap="flat" cmpd="sng" w="12700">
            <a:solidFill>
              <a:srgbClr val="5706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1553648" y="4499404"/>
            <a:ext cx="3858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i="0" lang="en-US" sz="1200" u="none" cap="none" strike="noStrike">
                <a:solidFill>
                  <a:srgbClr val="57068C"/>
                </a:solidFill>
                <a:latin typeface="Calibri"/>
                <a:ea typeface="Calibri"/>
                <a:cs typeface="Calibri"/>
                <a:sym typeface="Calibri"/>
              </a:rPr>
              <a:t>Weight encoding</a:t>
            </a:r>
            <a:endParaRPr b="0" i="0" sz="1200" u="none" cap="none" strike="noStrike">
              <a:solidFill>
                <a:srgbClr val="000000"/>
              </a:solidFill>
              <a:latin typeface="Calibri"/>
              <a:ea typeface="Calibri"/>
              <a:cs typeface="Calibri"/>
              <a:sym typeface="Calibri"/>
            </a:endParaRPr>
          </a:p>
        </p:txBody>
      </p:sp>
      <p:sp>
        <p:nvSpPr>
          <p:cNvPr id="222" name="Google Shape;222;p10"/>
          <p:cNvSpPr/>
          <p:nvPr/>
        </p:nvSpPr>
        <p:spPr>
          <a:xfrm>
            <a:off x="1553648" y="4792012"/>
            <a:ext cx="385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100" u="none" cap="none" strike="noStrike">
                <a:solidFill>
                  <a:srgbClr val="334155"/>
                </a:solidFill>
                <a:latin typeface="Calibri"/>
                <a:ea typeface="Calibri"/>
                <a:cs typeface="Calibri"/>
                <a:sym typeface="Calibri"/>
              </a:rPr>
              <a:t>Each weight is ONE trit: −1, 0, or +1. Stored as 2 wires (one-hot). No multiplier — just a 3-way mux.</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p:nvPr/>
        </p:nvSpPr>
        <p:spPr>
          <a:xfrm>
            <a:off x="0" y="0"/>
            <a:ext cx="9144000" cy="914400"/>
          </a:xfrm>
          <a:prstGeom prst="rect">
            <a:avLst/>
          </a:prstGeom>
          <a:solidFill>
            <a:srgbClr val="22003A"/>
          </a:solidFill>
          <a:ln cap="flat" cmpd="sng" w="12700">
            <a:solidFill>
              <a:srgbClr val="220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365760" y="0"/>
            <a:ext cx="6400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Track B — Multi-Trit Ternary Weight MAC</a:t>
            </a:r>
            <a:endParaRPr b="0" i="0" sz="2800" u="none" cap="none" strike="noStrike">
              <a:solidFill>
                <a:srgbClr val="000000"/>
              </a:solidFill>
              <a:latin typeface="Calibri"/>
              <a:ea typeface="Calibri"/>
              <a:cs typeface="Calibri"/>
              <a:sym typeface="Calibri"/>
            </a:endParaRPr>
          </a:p>
        </p:txBody>
      </p:sp>
      <p:sp>
        <p:nvSpPr>
          <p:cNvPr id="229" name="Google Shape;229;p11"/>
          <p:cNvSpPr/>
          <p:nvPr/>
        </p:nvSpPr>
        <p:spPr>
          <a:xfrm>
            <a:off x="6949440" y="182880"/>
            <a:ext cx="1828800" cy="548700"/>
          </a:xfrm>
          <a:prstGeom prst="rect">
            <a:avLst/>
          </a:prstGeom>
          <a:solidFill>
            <a:srgbClr val="F5C518"/>
          </a:solidFill>
          <a:ln cap="flat" cmpd="sng" w="12700">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6949440" y="182880"/>
            <a:ext cx="1828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0050"/>
              </a:buClr>
              <a:buSzPts val="1100"/>
              <a:buFont typeface="Calibri"/>
              <a:buNone/>
            </a:pPr>
            <a:r>
              <a:rPr b="1" i="0" lang="en-US" sz="1100" u="none" cap="none" strike="noStrike">
                <a:solidFill>
                  <a:srgbClr val="330050"/>
                </a:solidFill>
                <a:latin typeface="Calibri"/>
                <a:ea typeface="Calibri"/>
                <a:cs typeface="Calibri"/>
                <a:sym typeface="Calibri"/>
              </a:rPr>
              <a:t>3 trits  ·  27 levels</a:t>
            </a:r>
            <a:endParaRPr b="0" i="0" sz="1100" u="none" cap="none" strike="noStrike">
              <a:solidFill>
                <a:srgbClr val="000000"/>
              </a:solidFill>
              <a:latin typeface="Calibri"/>
              <a:ea typeface="Calibri"/>
              <a:cs typeface="Calibri"/>
              <a:sym typeface="Calibri"/>
            </a:endParaRPr>
          </a:p>
        </p:txBody>
      </p:sp>
      <p:sp>
        <p:nvSpPr>
          <p:cNvPr id="231" name="Google Shape;231;p11"/>
          <p:cNvSpPr/>
          <p:nvPr/>
        </p:nvSpPr>
        <p:spPr>
          <a:xfrm>
            <a:off x="7040880" y="5239512"/>
            <a:ext cx="17832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4F0B"/>
              </a:buClr>
              <a:buSzPts val="900"/>
              <a:buFont typeface="Calibri"/>
              <a:buNone/>
            </a:pPr>
            <a:r>
              <a:t/>
            </a:r>
            <a:endParaRPr b="0" i="0" sz="900" u="none" cap="none" strike="noStrike">
              <a:solidFill>
                <a:srgbClr val="000000"/>
              </a:solidFill>
              <a:latin typeface="Calibri"/>
              <a:ea typeface="Calibri"/>
              <a:cs typeface="Calibri"/>
              <a:sym typeface="Calibri"/>
            </a:endParaRPr>
          </a:p>
        </p:txBody>
      </p:sp>
      <p:sp>
        <p:nvSpPr>
          <p:cNvPr id="232" name="Google Shape;232;p11"/>
          <p:cNvSpPr/>
          <p:nvPr/>
        </p:nvSpPr>
        <p:spPr>
          <a:xfrm>
            <a:off x="5376672" y="5166360"/>
            <a:ext cx="3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k</a:t>
            </a:r>
            <a:endParaRPr b="0" i="0" sz="900" u="none" cap="none" strike="noStrike">
              <a:solidFill>
                <a:srgbClr val="000000"/>
              </a:solidFill>
              <a:latin typeface="Calibri"/>
              <a:ea typeface="Calibri"/>
              <a:cs typeface="Calibri"/>
              <a:sym typeface="Calibri"/>
            </a:endParaRPr>
          </a:p>
        </p:txBody>
      </p:sp>
      <p:sp>
        <p:nvSpPr>
          <p:cNvPr id="233" name="Google Shape;233;p11"/>
          <p:cNvSpPr/>
          <p:nvPr/>
        </p:nvSpPr>
        <p:spPr>
          <a:xfrm>
            <a:off x="1619935" y="4313528"/>
            <a:ext cx="54900" cy="7131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1729663" y="4368392"/>
            <a:ext cx="422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i="0" lang="en-US" sz="1200" u="none" cap="none" strike="noStrike">
                <a:solidFill>
                  <a:srgbClr val="57068C"/>
                </a:solidFill>
                <a:latin typeface="Calibri"/>
                <a:ea typeface="Calibri"/>
                <a:cs typeface="Calibri"/>
                <a:sym typeface="Calibri"/>
              </a:rPr>
              <a:t>How multiplication works</a:t>
            </a:r>
            <a:endParaRPr b="0" i="0" sz="1200" u="none" cap="none" strike="noStrike">
              <a:solidFill>
                <a:srgbClr val="000000"/>
              </a:solidFill>
              <a:latin typeface="Calibri"/>
              <a:ea typeface="Calibri"/>
              <a:cs typeface="Calibri"/>
              <a:sym typeface="Calibri"/>
            </a:endParaRPr>
          </a:p>
        </p:txBody>
      </p:sp>
      <p:sp>
        <p:nvSpPr>
          <p:cNvPr id="235" name="Google Shape;235;p11"/>
          <p:cNvSpPr/>
          <p:nvPr/>
        </p:nvSpPr>
        <p:spPr>
          <a:xfrm>
            <a:off x="1729663" y="4661000"/>
            <a:ext cx="422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100" u="none" cap="none" strike="noStrike">
                <a:solidFill>
                  <a:srgbClr val="334155"/>
                </a:solidFill>
                <a:latin typeface="Calibri"/>
                <a:ea typeface="Calibri"/>
                <a:cs typeface="Calibri"/>
                <a:sym typeface="Calibri"/>
              </a:rPr>
              <a:t>w × x = (w₀×x)×1 + (w₁×x)×3 + (w₂×x)×9. Each term is a mux; scaling uses shift-and-add only.</a:t>
            </a:r>
            <a:endParaRPr b="0" i="0" sz="1100" u="none" cap="none" strike="noStrike">
              <a:solidFill>
                <a:srgbClr val="000000"/>
              </a:solidFill>
              <a:latin typeface="Calibri"/>
              <a:ea typeface="Calibri"/>
              <a:cs typeface="Calibri"/>
              <a:sym typeface="Calibri"/>
            </a:endParaRPr>
          </a:p>
        </p:txBody>
      </p:sp>
      <p:pic>
        <p:nvPicPr>
          <p:cNvPr descr="preencoded.png" id="236" name="Google Shape;236;p11"/>
          <p:cNvPicPr preferRelativeResize="0"/>
          <p:nvPr/>
        </p:nvPicPr>
        <p:blipFill rotWithShape="1">
          <a:blip r:embed="rId3">
            <a:alphaModFix/>
          </a:blip>
          <a:srcRect b="0" l="0" r="0" t="0"/>
          <a:stretch/>
        </p:blipFill>
        <p:spPr>
          <a:xfrm>
            <a:off x="457200" y="990925"/>
            <a:ext cx="8583119" cy="31948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2"/>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2"/>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Evidence: QAT Training in Action (Real Output)</a:t>
            </a:r>
            <a:endParaRPr sz="2400">
              <a:solidFill>
                <a:schemeClr val="dk1"/>
              </a:solidFill>
              <a:latin typeface="Calibri"/>
              <a:ea typeface="Calibri"/>
              <a:cs typeface="Calibri"/>
              <a:sym typeface="Calibri"/>
            </a:endParaRPr>
          </a:p>
        </p:txBody>
      </p:sp>
      <p:sp>
        <p:nvSpPr>
          <p:cNvPr id="244" name="Google Shape;244;p12"/>
          <p:cNvSpPr/>
          <p:nvPr/>
        </p:nvSpPr>
        <p:spPr>
          <a:xfrm>
            <a:off x="411480" y="777240"/>
            <a:ext cx="5029200" cy="3886200"/>
          </a:xfrm>
          <a:prstGeom prst="rect">
            <a:avLst/>
          </a:prstGeom>
          <a:solidFill>
            <a:srgbClr val="0F172A"/>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2"/>
          <p:cNvSpPr/>
          <p:nvPr/>
        </p:nvSpPr>
        <p:spPr>
          <a:xfrm>
            <a:off x="411480" y="777240"/>
            <a:ext cx="5029200" cy="347472"/>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2"/>
          <p:cNvSpPr/>
          <p:nvPr/>
        </p:nvSpPr>
        <p:spPr>
          <a:xfrm>
            <a:off x="411480" y="777240"/>
            <a:ext cx="5029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CIFAR-100 QAT Fine-tuning (Actual Output)</a:t>
            </a:r>
            <a:endParaRPr sz="1000">
              <a:solidFill>
                <a:schemeClr val="dk1"/>
              </a:solidFill>
              <a:latin typeface="Calibri"/>
              <a:ea typeface="Calibri"/>
              <a:cs typeface="Calibri"/>
              <a:sym typeface="Calibri"/>
            </a:endParaRPr>
          </a:p>
        </p:txBody>
      </p:sp>
      <p:sp>
        <p:nvSpPr>
          <p:cNvPr id="247" name="Google Shape;247;p12"/>
          <p:cNvSpPr/>
          <p:nvPr/>
        </p:nvSpPr>
        <p:spPr>
          <a:xfrm>
            <a:off x="502920" y="1170432"/>
            <a:ext cx="4846320" cy="3383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Stage 2: QAT Fine-tuning (α=0.1, CIFAR-100)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Baseline to beat: 61.18%</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Epoch   Train Acc   Val Acc (ternary)</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1     49.49%        50.52%</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2     59.19%        55.85%</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3     63.38%        58.87%</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4     66.12%        59.50%</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5     67.59%        59.72%</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6     68.99%        60.19%</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7     69.54%        60.92%</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8     70.47%        61.33%  ⬅ beats baseline!</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9     70.63%        61.78%  ⬅ beats baseline!</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10     70.98%        61.99%  ⬅ beats baseline!</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22C55E"/>
              </a:buClr>
              <a:buSzPts val="950"/>
              <a:buFont typeface="Consolas"/>
              <a:buNone/>
            </a:pPr>
            <a:r>
              <a:rPr lang="en-US" sz="950">
                <a:solidFill>
                  <a:srgbClr val="22C55E"/>
                </a:solidFill>
                <a:latin typeface="Consolas"/>
                <a:ea typeface="Consolas"/>
                <a:cs typeface="Consolas"/>
                <a:sym typeface="Consolas"/>
              </a:rPr>
              <a:t>✅  QAT acc: 61.99%  vs baseline 61.18%  (+0.81%)</a:t>
            </a:r>
            <a:endParaRPr sz="950">
              <a:solidFill>
                <a:schemeClr val="dk1"/>
              </a:solidFill>
              <a:latin typeface="Calibri"/>
              <a:ea typeface="Calibri"/>
              <a:cs typeface="Calibri"/>
              <a:sym typeface="Calibri"/>
            </a:endParaRPr>
          </a:p>
        </p:txBody>
      </p:sp>
      <p:sp>
        <p:nvSpPr>
          <p:cNvPr id="248" name="Google Shape;248;p12"/>
          <p:cNvSpPr/>
          <p:nvPr/>
        </p:nvSpPr>
        <p:spPr>
          <a:xfrm>
            <a:off x="5577840" y="777240"/>
            <a:ext cx="3154680" cy="3886200"/>
          </a:xfrm>
          <a:prstGeom prst="rect">
            <a:avLst/>
          </a:prstGeom>
          <a:solidFill>
            <a:srgbClr val="EDE9F8"/>
          </a:solidFill>
          <a:ln cap="flat" cmpd="sng" w="12700">
            <a:solidFill>
              <a:srgbClr val="C4B5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2"/>
          <p:cNvSpPr/>
          <p:nvPr/>
        </p:nvSpPr>
        <p:spPr>
          <a:xfrm>
            <a:off x="5715000" y="868680"/>
            <a:ext cx="2880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What this proves</a:t>
            </a:r>
            <a:endParaRPr sz="1300">
              <a:solidFill>
                <a:schemeClr val="dk1"/>
              </a:solidFill>
              <a:latin typeface="Calibri"/>
              <a:ea typeface="Calibri"/>
              <a:cs typeface="Calibri"/>
              <a:sym typeface="Calibri"/>
            </a:endParaRPr>
          </a:p>
        </p:txBody>
      </p:sp>
      <p:sp>
        <p:nvSpPr>
          <p:cNvPr id="250" name="Google Shape;250;p12"/>
          <p:cNvSpPr/>
          <p:nvPr/>
        </p:nvSpPr>
        <p:spPr>
          <a:xfrm>
            <a:off x="5715000" y="1234440"/>
            <a:ext cx="288036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Model actually trained on Colab T4 GPU</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Accuracy climbs steadily across 10 epochs of QAT</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Beats the 61.18% float baseline by epoch 8</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Regularization effect: ternary constraint removes noise</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Same result confirmed on CIFAR-10 (+1.35%)</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3"/>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3"/>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Evidence: Yosys Synthesis — Real Output</a:t>
            </a:r>
            <a:endParaRPr sz="2400">
              <a:solidFill>
                <a:schemeClr val="dk1"/>
              </a:solidFill>
              <a:latin typeface="Calibri"/>
              <a:ea typeface="Calibri"/>
              <a:cs typeface="Calibri"/>
              <a:sym typeface="Calibri"/>
            </a:endParaRPr>
          </a:p>
        </p:txBody>
      </p:sp>
      <p:sp>
        <p:nvSpPr>
          <p:cNvPr id="258" name="Google Shape;258;p13"/>
          <p:cNvSpPr/>
          <p:nvPr/>
        </p:nvSpPr>
        <p:spPr>
          <a:xfrm>
            <a:off x="411480" y="777240"/>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lang="en-US" sz="1100">
                <a:solidFill>
                  <a:srgbClr val="64748B"/>
                </a:solidFill>
                <a:latin typeface="Calibri"/>
                <a:ea typeface="Calibri"/>
                <a:cs typeface="Calibri"/>
                <a:sym typeface="Calibri"/>
              </a:rPr>
              <a:t>Gate-level synthesis output from phase2_final notebook (Yosys + abc, technology-independent)</a:t>
            </a:r>
            <a:endParaRPr sz="1100">
              <a:solidFill>
                <a:schemeClr val="dk1"/>
              </a:solidFill>
              <a:latin typeface="Calibri"/>
              <a:ea typeface="Calibri"/>
              <a:cs typeface="Calibri"/>
              <a:sym typeface="Calibri"/>
            </a:endParaRPr>
          </a:p>
        </p:txBody>
      </p:sp>
      <p:sp>
        <p:nvSpPr>
          <p:cNvPr id="259" name="Google Shape;259;p13"/>
          <p:cNvSpPr/>
          <p:nvPr/>
        </p:nvSpPr>
        <p:spPr>
          <a:xfrm>
            <a:off x="411480" y="1097280"/>
            <a:ext cx="4114800" cy="3520440"/>
          </a:xfrm>
          <a:prstGeom prst="rect">
            <a:avLst/>
          </a:prstGeom>
          <a:solidFill>
            <a:srgbClr val="0F172A"/>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3"/>
          <p:cNvSpPr/>
          <p:nvPr/>
        </p:nvSpPr>
        <p:spPr>
          <a:xfrm>
            <a:off x="411480" y="1097280"/>
            <a:ext cx="4114800" cy="320040"/>
          </a:xfrm>
          <a:prstGeom prst="rect">
            <a:avLst/>
          </a:prstGeom>
          <a:solidFill>
            <a:srgbClr val="475569"/>
          </a:solidFill>
          <a:ln cap="flat" cmpd="sng" w="12700">
            <a:solidFill>
              <a:srgbClr val="4755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3"/>
          <p:cNvSpPr/>
          <p:nvPr/>
        </p:nvSpPr>
        <p:spPr>
          <a:xfrm>
            <a:off x="411480" y="1097280"/>
            <a:ext cx="4114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 Standard MAC (Binary 8-bit)</a:t>
            </a:r>
            <a:endParaRPr sz="1000">
              <a:solidFill>
                <a:schemeClr val="dk1"/>
              </a:solidFill>
              <a:latin typeface="Calibri"/>
              <a:ea typeface="Calibri"/>
              <a:cs typeface="Calibri"/>
              <a:sym typeface="Calibri"/>
            </a:endParaRPr>
          </a:p>
        </p:txBody>
      </p:sp>
      <p:sp>
        <p:nvSpPr>
          <p:cNvPr id="262" name="Google Shape;262;p13"/>
          <p:cNvSpPr/>
          <p:nvPr/>
        </p:nvSpPr>
        <p:spPr>
          <a:xfrm>
            <a:off x="502920" y="1463040"/>
            <a:ext cx="3931920" cy="3017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Number of cells:            664</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$_XOR_                   161</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$_ANDNOT_                109</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$_AOI3_                   63</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$_AND_                    62</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$_XNOR_                   53</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$_MUX_                    33</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$_DFF_PP0_                32</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Gate Equivalents:        993.0 GE</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XOR/XNOR (mult logic):     214</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950"/>
              <a:buFont typeface="Consolas"/>
              <a:buNone/>
            </a:pPr>
            <a:r>
              <a:rPr lang="en-US" sz="950">
                <a:solidFill>
                  <a:srgbClr val="F87171"/>
                </a:solidFill>
                <a:latin typeface="Consolas"/>
                <a:ea typeface="Consolas"/>
                <a:cs typeface="Consolas"/>
                <a:sym typeface="Consolas"/>
              </a:rPr>
              <a:t>=== RESULTS: 25/25 PASSED ===</a:t>
            </a:r>
            <a:endParaRPr sz="950">
              <a:solidFill>
                <a:schemeClr val="dk1"/>
              </a:solidFill>
              <a:latin typeface="Calibri"/>
              <a:ea typeface="Calibri"/>
              <a:cs typeface="Calibri"/>
              <a:sym typeface="Calibri"/>
            </a:endParaRPr>
          </a:p>
        </p:txBody>
      </p:sp>
      <p:sp>
        <p:nvSpPr>
          <p:cNvPr id="263" name="Google Shape;263;p13"/>
          <p:cNvSpPr/>
          <p:nvPr/>
        </p:nvSpPr>
        <p:spPr>
          <a:xfrm>
            <a:off x="4663440" y="1097280"/>
            <a:ext cx="4069080" cy="3520440"/>
          </a:xfrm>
          <a:prstGeom prst="rect">
            <a:avLst/>
          </a:prstGeom>
          <a:solidFill>
            <a:srgbClr val="0F172A"/>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3"/>
          <p:cNvSpPr/>
          <p:nvPr/>
        </p:nvSpPr>
        <p:spPr>
          <a:xfrm>
            <a:off x="4663440" y="1097280"/>
            <a:ext cx="4069080" cy="320040"/>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3"/>
          <p:cNvSpPr/>
          <p:nvPr/>
        </p:nvSpPr>
        <p:spPr>
          <a:xfrm>
            <a:off x="4663440" y="1097280"/>
            <a:ext cx="40690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 Ternary MAC (1-trit weight)</a:t>
            </a:r>
            <a:endParaRPr sz="1000">
              <a:solidFill>
                <a:schemeClr val="dk1"/>
              </a:solidFill>
              <a:latin typeface="Calibri"/>
              <a:ea typeface="Calibri"/>
              <a:cs typeface="Calibri"/>
              <a:sym typeface="Calibri"/>
            </a:endParaRPr>
          </a:p>
        </p:txBody>
      </p:sp>
      <p:sp>
        <p:nvSpPr>
          <p:cNvPr id="266" name="Google Shape;266;p13"/>
          <p:cNvSpPr/>
          <p:nvPr/>
        </p:nvSpPr>
        <p:spPr>
          <a:xfrm>
            <a:off x="4754880" y="1463040"/>
            <a:ext cx="3886200" cy="3017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Number of cells:            317</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$_XOR_                    60</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$_ANDNOT_                 58</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$_MUX_                    41  ← selector logic</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$_OR_                     38</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$_DFF_PP0_                32</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$_NOT_                    23</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Gate Equivalents:        493.0 GE</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XOR/XNOR (mult logic):      72</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4ADE80"/>
              </a:buClr>
              <a:buSzPts val="950"/>
              <a:buFont typeface="Consolas"/>
              <a:buNone/>
            </a:pPr>
            <a:r>
              <a:rPr lang="en-US" sz="950">
                <a:solidFill>
                  <a:srgbClr val="4ADE80"/>
                </a:solidFill>
                <a:latin typeface="Consolas"/>
                <a:ea typeface="Consolas"/>
                <a:cs typeface="Consolas"/>
                <a:sym typeface="Consolas"/>
              </a:rPr>
              <a:t>=== RESULTS: 25/25 PASSED ===</a:t>
            </a:r>
            <a:endParaRPr sz="950">
              <a:solidFill>
                <a:schemeClr val="dk1"/>
              </a:solidFill>
              <a:latin typeface="Calibri"/>
              <a:ea typeface="Calibri"/>
              <a:cs typeface="Calibri"/>
              <a:sym typeface="Calibri"/>
            </a:endParaRPr>
          </a:p>
        </p:txBody>
      </p:sp>
      <p:sp>
        <p:nvSpPr>
          <p:cNvPr id="267" name="Google Shape;267;p13"/>
          <p:cNvSpPr/>
          <p:nvPr/>
        </p:nvSpPr>
        <p:spPr>
          <a:xfrm>
            <a:off x="411480" y="4709160"/>
            <a:ext cx="8321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100"/>
              <a:buFont typeface="Calibri"/>
              <a:buNone/>
            </a:pPr>
            <a:r>
              <a:rPr b="1" lang="en-US" sz="1100">
                <a:solidFill>
                  <a:srgbClr val="059669"/>
                </a:solidFill>
                <a:latin typeface="Calibri"/>
                <a:ea typeface="Calibri"/>
                <a:cs typeface="Calibri"/>
                <a:sym typeface="Calibri"/>
              </a:rPr>
              <a:t>52% fewer cells  ·  50% fewer gate equivalents  ·  66% less multiplier logic (XOR/XNOR eliminated)</a:t>
            </a:r>
            <a:endParaRPr sz="1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sp>
        <p:nvSpPr>
          <p:cNvPr id="273" name="Google Shape;273;p14"/>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4"/>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Evidence: Track B Hardware — Real Synthesis Chart</a:t>
            </a:r>
            <a:endParaRPr sz="2400">
              <a:solidFill>
                <a:schemeClr val="dk1"/>
              </a:solidFill>
              <a:latin typeface="Calibri"/>
              <a:ea typeface="Calibri"/>
              <a:cs typeface="Calibri"/>
              <a:sym typeface="Calibri"/>
            </a:endParaRPr>
          </a:p>
        </p:txBody>
      </p:sp>
      <p:pic>
        <p:nvPicPr>
          <p:cNvPr descr="preencoded.png" id="275" name="Google Shape;275;p14"/>
          <p:cNvPicPr preferRelativeResize="0"/>
          <p:nvPr/>
        </p:nvPicPr>
        <p:blipFill rotWithShape="1">
          <a:blip r:embed="rId3">
            <a:alphaModFix/>
          </a:blip>
          <a:srcRect b="0" l="0" r="0" t="0"/>
          <a:stretch/>
        </p:blipFill>
        <p:spPr>
          <a:xfrm>
            <a:off x="320040" y="749808"/>
            <a:ext cx="5943600" cy="4069080"/>
          </a:xfrm>
          <a:prstGeom prst="rect">
            <a:avLst/>
          </a:prstGeom>
          <a:noFill/>
          <a:ln>
            <a:noFill/>
          </a:ln>
        </p:spPr>
      </p:pic>
      <p:sp>
        <p:nvSpPr>
          <p:cNvPr id="276" name="Google Shape;276;p14"/>
          <p:cNvSpPr/>
          <p:nvPr/>
        </p:nvSpPr>
        <p:spPr>
          <a:xfrm>
            <a:off x="6355080" y="777240"/>
            <a:ext cx="2377440" cy="4041648"/>
          </a:xfrm>
          <a:prstGeom prst="rect">
            <a:avLst/>
          </a:prstGeom>
          <a:solidFill>
            <a:srgbClr val="EDE9F8"/>
          </a:solidFill>
          <a:ln cap="flat" cmpd="sng" w="12700">
            <a:solidFill>
              <a:srgbClr val="C4B5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4"/>
          <p:cNvSpPr/>
          <p:nvPr/>
        </p:nvSpPr>
        <p:spPr>
          <a:xfrm>
            <a:off x="6492240" y="868680"/>
            <a:ext cx="2103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lang="en-US" sz="1200">
                <a:solidFill>
                  <a:srgbClr val="57068C"/>
                </a:solidFill>
                <a:latin typeface="Calibri"/>
                <a:ea typeface="Calibri"/>
                <a:cs typeface="Calibri"/>
                <a:sym typeface="Calibri"/>
              </a:rPr>
              <a:t>Key takeaways</a:t>
            </a:r>
            <a:endParaRPr sz="1200">
              <a:solidFill>
                <a:schemeClr val="dk1"/>
              </a:solidFill>
              <a:latin typeface="Calibri"/>
              <a:ea typeface="Calibri"/>
              <a:cs typeface="Calibri"/>
              <a:sym typeface="Calibri"/>
            </a:endParaRPr>
          </a:p>
        </p:txBody>
      </p:sp>
      <p:sp>
        <p:nvSpPr>
          <p:cNvPr id="278" name="Google Shape;278;p14"/>
          <p:cNvSpPr/>
          <p:nvPr/>
        </p:nvSpPr>
        <p:spPr>
          <a:xfrm>
            <a:off x="6492240" y="1188720"/>
            <a:ext cx="2103120" cy="3383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3-trit (top-left point) is clearly BELOW the red dashed binary baseline</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Crossover between 3 and 4 trits is visually obvious</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All 4 metrics agree: cells, transistors, depth, power</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Generated by Yosys synthesis — not estimated or hand-calculated</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300/300 test vectors passed functional verification</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15"/>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5"/>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Evaluation: Track A — Software Results</a:t>
            </a:r>
            <a:endParaRPr sz="2400">
              <a:solidFill>
                <a:schemeClr val="dk1"/>
              </a:solidFill>
              <a:latin typeface="Calibri"/>
              <a:ea typeface="Calibri"/>
              <a:cs typeface="Calibri"/>
              <a:sym typeface="Calibri"/>
            </a:endParaRPr>
          </a:p>
        </p:txBody>
      </p:sp>
      <p:sp>
        <p:nvSpPr>
          <p:cNvPr id="286" name="Google Shape;286;p15"/>
          <p:cNvSpPr/>
          <p:nvPr/>
        </p:nvSpPr>
        <p:spPr>
          <a:xfrm>
            <a:off x="411480" y="841248"/>
            <a:ext cx="1828800" cy="1051560"/>
          </a:xfrm>
          <a:prstGeom prst="rect">
            <a:avLst/>
          </a:prstGeom>
          <a:solidFill>
            <a:srgbClr val="059669"/>
          </a:solidFill>
          <a:ln cap="flat" cmpd="sng" w="12700">
            <a:solidFill>
              <a:srgbClr val="059669"/>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5"/>
          <p:cNvSpPr/>
          <p:nvPr/>
        </p:nvSpPr>
        <p:spPr>
          <a:xfrm>
            <a:off x="411480" y="914400"/>
            <a:ext cx="182880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+1.35%</a:t>
            </a:r>
            <a:endParaRPr sz="3600">
              <a:solidFill>
                <a:schemeClr val="dk1"/>
              </a:solidFill>
              <a:latin typeface="Calibri"/>
              <a:ea typeface="Calibri"/>
              <a:cs typeface="Calibri"/>
              <a:sym typeface="Calibri"/>
            </a:endParaRPr>
          </a:p>
        </p:txBody>
      </p:sp>
      <p:sp>
        <p:nvSpPr>
          <p:cNvPr id="288" name="Google Shape;288;p15"/>
          <p:cNvSpPr/>
          <p:nvPr/>
        </p:nvSpPr>
        <p:spPr>
          <a:xfrm>
            <a:off x="411480" y="1451153"/>
            <a:ext cx="182880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CIFAR-10 accuracy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gain over FP32</a:t>
            </a:r>
            <a:endParaRPr sz="1100">
              <a:solidFill>
                <a:schemeClr val="dk1"/>
              </a:solidFill>
              <a:latin typeface="Calibri"/>
              <a:ea typeface="Calibri"/>
              <a:cs typeface="Calibri"/>
              <a:sym typeface="Calibri"/>
            </a:endParaRPr>
          </a:p>
        </p:txBody>
      </p:sp>
      <p:sp>
        <p:nvSpPr>
          <p:cNvPr id="289" name="Google Shape;289;p15"/>
          <p:cNvSpPr/>
          <p:nvPr/>
        </p:nvSpPr>
        <p:spPr>
          <a:xfrm>
            <a:off x="2377440" y="841248"/>
            <a:ext cx="1828800" cy="1051560"/>
          </a:xfrm>
          <a:prstGeom prst="rect">
            <a:avLst/>
          </a:prstGeom>
          <a:solidFill>
            <a:srgbClr val="0369A1"/>
          </a:solidFill>
          <a:ln cap="flat" cmpd="sng" w="12700">
            <a:solidFill>
              <a:srgbClr val="0369A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5"/>
          <p:cNvSpPr/>
          <p:nvPr/>
        </p:nvSpPr>
        <p:spPr>
          <a:xfrm>
            <a:off x="2377440" y="914400"/>
            <a:ext cx="182880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+0.84%</a:t>
            </a:r>
            <a:endParaRPr sz="3600">
              <a:solidFill>
                <a:schemeClr val="dk1"/>
              </a:solidFill>
              <a:latin typeface="Calibri"/>
              <a:ea typeface="Calibri"/>
              <a:cs typeface="Calibri"/>
              <a:sym typeface="Calibri"/>
            </a:endParaRPr>
          </a:p>
        </p:txBody>
      </p:sp>
      <p:sp>
        <p:nvSpPr>
          <p:cNvPr id="291" name="Google Shape;291;p15"/>
          <p:cNvSpPr/>
          <p:nvPr/>
        </p:nvSpPr>
        <p:spPr>
          <a:xfrm>
            <a:off x="2377440" y="1451153"/>
            <a:ext cx="182880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CIFAR-100 accuracy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gain over FP32</a:t>
            </a:r>
            <a:endParaRPr sz="1100">
              <a:solidFill>
                <a:schemeClr val="dk1"/>
              </a:solidFill>
              <a:latin typeface="Calibri"/>
              <a:ea typeface="Calibri"/>
              <a:cs typeface="Calibri"/>
              <a:sym typeface="Calibri"/>
            </a:endParaRPr>
          </a:p>
        </p:txBody>
      </p:sp>
      <p:sp>
        <p:nvSpPr>
          <p:cNvPr id="292" name="Google Shape;292;p15"/>
          <p:cNvSpPr/>
          <p:nvPr/>
        </p:nvSpPr>
        <p:spPr>
          <a:xfrm>
            <a:off x="4343400" y="841248"/>
            <a:ext cx="1828800" cy="1051560"/>
          </a:xfrm>
          <a:prstGeom prst="rect">
            <a:avLst/>
          </a:prstGeom>
          <a:solidFill>
            <a:srgbClr val="57068C"/>
          </a:solidFill>
          <a:ln cap="flat" cmpd="sng" w="12700">
            <a:solidFill>
              <a:srgbClr val="57068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5"/>
          <p:cNvSpPr/>
          <p:nvPr/>
        </p:nvSpPr>
        <p:spPr>
          <a:xfrm>
            <a:off x="4343400" y="914400"/>
            <a:ext cx="182880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~38%</a:t>
            </a:r>
            <a:endParaRPr sz="3600">
              <a:solidFill>
                <a:schemeClr val="dk1"/>
              </a:solidFill>
              <a:latin typeface="Calibri"/>
              <a:ea typeface="Calibri"/>
              <a:cs typeface="Calibri"/>
              <a:sym typeface="Calibri"/>
            </a:endParaRPr>
          </a:p>
        </p:txBody>
      </p:sp>
      <p:sp>
        <p:nvSpPr>
          <p:cNvPr id="294" name="Google Shape;294;p15"/>
          <p:cNvSpPr/>
          <p:nvPr/>
        </p:nvSpPr>
        <p:spPr>
          <a:xfrm>
            <a:off x="4343400" y="1451153"/>
            <a:ext cx="182880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Weight sparsity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(zero weights)</a:t>
            </a:r>
            <a:endParaRPr sz="1100">
              <a:solidFill>
                <a:schemeClr val="dk1"/>
              </a:solidFill>
              <a:latin typeface="Calibri"/>
              <a:ea typeface="Calibri"/>
              <a:cs typeface="Calibri"/>
              <a:sym typeface="Calibri"/>
            </a:endParaRPr>
          </a:p>
        </p:txBody>
      </p:sp>
      <p:sp>
        <p:nvSpPr>
          <p:cNvPr id="295" name="Google Shape;295;p15"/>
          <p:cNvSpPr/>
          <p:nvPr/>
        </p:nvSpPr>
        <p:spPr>
          <a:xfrm>
            <a:off x="6309360" y="841248"/>
            <a:ext cx="1828800" cy="1051560"/>
          </a:xfrm>
          <a:prstGeom prst="rect">
            <a:avLst/>
          </a:prstGeom>
          <a:solidFill>
            <a:srgbClr val="8900E1"/>
          </a:solidFill>
          <a:ln cap="flat" cmpd="sng" w="12700">
            <a:solidFill>
              <a:srgbClr val="8900E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5"/>
          <p:cNvSpPr/>
          <p:nvPr/>
        </p:nvSpPr>
        <p:spPr>
          <a:xfrm>
            <a:off x="6309360" y="914400"/>
            <a:ext cx="182880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+30.9pp</a:t>
            </a:r>
            <a:endParaRPr sz="3600">
              <a:solidFill>
                <a:schemeClr val="dk1"/>
              </a:solidFill>
              <a:latin typeface="Calibri"/>
              <a:ea typeface="Calibri"/>
              <a:cs typeface="Calibri"/>
              <a:sym typeface="Calibri"/>
            </a:endParaRPr>
          </a:p>
        </p:txBody>
      </p:sp>
      <p:sp>
        <p:nvSpPr>
          <p:cNvPr id="297" name="Google Shape;297;p15"/>
          <p:cNvSpPr/>
          <p:nvPr/>
        </p:nvSpPr>
        <p:spPr>
          <a:xfrm>
            <a:off x="6309360" y="1451153"/>
            <a:ext cx="182880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QAT recovery over</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post-training quant</a:t>
            </a:r>
            <a:endParaRPr sz="1100">
              <a:solidFill>
                <a:schemeClr val="dk1"/>
              </a:solidFill>
              <a:latin typeface="Calibri"/>
              <a:ea typeface="Calibri"/>
              <a:cs typeface="Calibri"/>
              <a:sym typeface="Calibri"/>
            </a:endParaRPr>
          </a:p>
        </p:txBody>
      </p:sp>
      <p:sp>
        <p:nvSpPr>
          <p:cNvPr id="298" name="Google Shape;298;p15"/>
          <p:cNvSpPr/>
          <p:nvPr/>
        </p:nvSpPr>
        <p:spPr>
          <a:xfrm>
            <a:off x="411480" y="2029968"/>
            <a:ext cx="8321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Quantization Sweep (CIFAR-100, ResNet-18)</a:t>
            </a:r>
            <a:endParaRPr sz="1300">
              <a:solidFill>
                <a:schemeClr val="dk1"/>
              </a:solidFill>
              <a:latin typeface="Calibri"/>
              <a:ea typeface="Calibri"/>
              <a:cs typeface="Calibri"/>
              <a:sym typeface="Calibri"/>
            </a:endParaRPr>
          </a:p>
        </p:txBody>
      </p:sp>
      <p:graphicFrame>
        <p:nvGraphicFramePr>
          <p:cNvPr id="299" name="Google Shape;299;p15"/>
          <p:cNvGraphicFramePr/>
          <p:nvPr/>
        </p:nvGraphicFramePr>
        <p:xfrm>
          <a:off x="411480" y="2377440"/>
          <a:ext cx="3000000" cy="3000000"/>
        </p:xfrm>
        <a:graphic>
          <a:graphicData uri="http://schemas.openxmlformats.org/drawingml/2006/table">
            <a:tbl>
              <a:tblPr>
                <a:noFill/>
                <a:tableStyleId>{08ACB7BB-CF12-44D4-AE08-C73071F11F27}</a:tableStyleId>
              </a:tblPr>
              <a:tblGrid>
                <a:gridCol w="1664200"/>
                <a:gridCol w="1664200"/>
                <a:gridCol w="1664200"/>
                <a:gridCol w="1664200"/>
                <a:gridCol w="1664200"/>
              </a:tblGrid>
              <a:tr h="493775">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α</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PTQ Accuracy</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QAT Accuracy</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Δ vs Baseline</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Sparsity</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r>
              <a:tr h="493775">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0.05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53.75%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53.75%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−7.43%</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19.5%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93775">
                <a:tc>
                  <a:txBody>
                    <a:bodyPr/>
                    <a:lstStyle/>
                    <a:p>
                      <a:pPr indent="0" lvl="0" marL="0" marR="0" rtl="0" algn="ctr">
                        <a:spcBef>
                          <a:spcPts val="0"/>
                        </a:spcBef>
                        <a:spcAft>
                          <a:spcPts val="0"/>
                        </a:spcAft>
                        <a:buClr>
                          <a:srgbClr val="57068C"/>
                        </a:buClr>
                        <a:buSzPts val="1100"/>
                        <a:buFont typeface="Calibri"/>
                        <a:buNone/>
                      </a:pPr>
                      <a:r>
                        <a:rPr b="1" lang="en-US" sz="1100" u="none" cap="none" strike="noStrike">
                          <a:solidFill>
                            <a:srgbClr val="57068C"/>
                          </a:solidFill>
                        </a:rPr>
                        <a:t>0.10 ★</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31.10%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59669"/>
                        </a:buClr>
                        <a:buSzPts val="1100"/>
                        <a:buFont typeface="Calibri"/>
                        <a:buNone/>
                      </a:pPr>
                      <a:r>
                        <a:rPr b="1" lang="en-US" sz="1100" u="none" cap="none" strike="noStrike">
                          <a:solidFill>
                            <a:srgbClr val="059669"/>
                          </a:solidFill>
                        </a:rPr>
                        <a:t>62.02%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59669"/>
                        </a:buClr>
                        <a:buSzPts val="1100"/>
                        <a:buFont typeface="Calibri"/>
                        <a:buNone/>
                      </a:pPr>
                      <a:r>
                        <a:rPr b="1" lang="en-US" sz="1100" u="none" cap="none" strike="noStrike">
                          <a:solidFill>
                            <a:srgbClr val="059669"/>
                          </a:solidFill>
                        </a:rPr>
                        <a:t>+0.84%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00000"/>
                        </a:buClr>
                        <a:buSzPts val="1100"/>
                        <a:buFont typeface="Calibri"/>
                        <a:buNone/>
                      </a:pPr>
                      <a:r>
                        <a:rPr b="1" lang="en-US" sz="1100" u="none" cap="none" strike="noStrike">
                          <a:solidFill>
                            <a:srgbClr val="000000"/>
                          </a:solidFill>
                        </a:rPr>
                        <a:t>38.1%</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r>
              <a:tr h="493775">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0.15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51.22%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51.22%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−9.96%</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54.1%</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93775">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0.20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39.18%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39.18%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−22.00%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67.6%</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300" name="Google Shape;300;p15"/>
          <p:cNvSpPr/>
          <p:nvPr/>
        </p:nvSpPr>
        <p:spPr>
          <a:xfrm>
            <a:off x="411480" y="4818888"/>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  α = 0.10 is the sweet spot: ternary QAT beats the float baseline on both datasets — a known regularization-of-quantization effect.</a:t>
            </a:r>
            <a:endParaRPr sz="1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16"/>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6"/>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Evaluation: Track A — Hardware Synthesis (Yosys)</a:t>
            </a:r>
            <a:endParaRPr sz="2400">
              <a:solidFill>
                <a:schemeClr val="dk1"/>
              </a:solidFill>
              <a:latin typeface="Calibri"/>
              <a:ea typeface="Calibri"/>
              <a:cs typeface="Calibri"/>
              <a:sym typeface="Calibri"/>
            </a:endParaRPr>
          </a:p>
        </p:txBody>
      </p:sp>
      <p:sp>
        <p:nvSpPr>
          <p:cNvPr id="308" name="Google Shape;308;p16"/>
          <p:cNvSpPr/>
          <p:nvPr/>
        </p:nvSpPr>
        <p:spPr>
          <a:xfrm>
            <a:off x="411480" y="841248"/>
            <a:ext cx="2560320" cy="1051560"/>
          </a:xfrm>
          <a:prstGeom prst="rect">
            <a:avLst/>
          </a:prstGeom>
          <a:solidFill>
            <a:srgbClr val="059669"/>
          </a:solidFill>
          <a:ln cap="flat" cmpd="sng" w="12700">
            <a:solidFill>
              <a:srgbClr val="059669"/>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6"/>
          <p:cNvSpPr/>
          <p:nvPr/>
        </p:nvSpPr>
        <p:spPr>
          <a:xfrm>
            <a:off x="411480" y="914400"/>
            <a:ext cx="256032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51%</a:t>
            </a:r>
            <a:endParaRPr sz="3600">
              <a:solidFill>
                <a:schemeClr val="dk1"/>
              </a:solidFill>
              <a:latin typeface="Calibri"/>
              <a:ea typeface="Calibri"/>
              <a:cs typeface="Calibri"/>
              <a:sym typeface="Calibri"/>
            </a:endParaRPr>
          </a:p>
        </p:txBody>
      </p:sp>
      <p:sp>
        <p:nvSpPr>
          <p:cNvPr id="310" name="Google Shape;310;p16"/>
          <p:cNvSpPr/>
          <p:nvPr/>
        </p:nvSpPr>
        <p:spPr>
          <a:xfrm>
            <a:off x="411480" y="1451153"/>
            <a:ext cx="256032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Fewer gate equivalents</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(ternary vs binary)</a:t>
            </a:r>
            <a:endParaRPr sz="1100">
              <a:solidFill>
                <a:schemeClr val="dk1"/>
              </a:solidFill>
              <a:latin typeface="Calibri"/>
              <a:ea typeface="Calibri"/>
              <a:cs typeface="Calibri"/>
              <a:sym typeface="Calibri"/>
            </a:endParaRPr>
          </a:p>
        </p:txBody>
      </p:sp>
      <p:sp>
        <p:nvSpPr>
          <p:cNvPr id="311" name="Google Shape;311;p16"/>
          <p:cNvSpPr/>
          <p:nvPr/>
        </p:nvSpPr>
        <p:spPr>
          <a:xfrm>
            <a:off x="3291840" y="841248"/>
            <a:ext cx="2560320" cy="1051560"/>
          </a:xfrm>
          <a:prstGeom prst="rect">
            <a:avLst/>
          </a:prstGeom>
          <a:solidFill>
            <a:srgbClr val="57068C"/>
          </a:solidFill>
          <a:ln cap="flat" cmpd="sng" w="12700">
            <a:solidFill>
              <a:srgbClr val="57068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6"/>
          <p:cNvSpPr/>
          <p:nvPr/>
        </p:nvSpPr>
        <p:spPr>
          <a:xfrm>
            <a:off x="3291840" y="914400"/>
            <a:ext cx="256032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3,682</a:t>
            </a:r>
            <a:endParaRPr sz="3600">
              <a:solidFill>
                <a:schemeClr val="dk1"/>
              </a:solidFill>
              <a:latin typeface="Calibri"/>
              <a:ea typeface="Calibri"/>
              <a:cs typeface="Calibri"/>
              <a:sym typeface="Calibri"/>
            </a:endParaRPr>
          </a:p>
        </p:txBody>
      </p:sp>
      <p:sp>
        <p:nvSpPr>
          <p:cNvPr id="313" name="Google Shape;313;p16"/>
          <p:cNvSpPr/>
          <p:nvPr/>
        </p:nvSpPr>
        <p:spPr>
          <a:xfrm>
            <a:off x="3291840" y="1451153"/>
            <a:ext cx="256032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Transistors (ternary)</a:t>
            </a:r>
            <a:endParaRPr sz="1100">
              <a:solidFill>
                <a:schemeClr val="dk1"/>
              </a:solidFill>
              <a:latin typeface="Calibri"/>
              <a:ea typeface="Calibri"/>
              <a:cs typeface="Calibri"/>
              <a:sym typeface="Calibri"/>
            </a:endParaRPr>
          </a:p>
        </p:txBody>
      </p:sp>
      <p:sp>
        <p:nvSpPr>
          <p:cNvPr id="314" name="Google Shape;314;p16"/>
          <p:cNvSpPr/>
          <p:nvPr/>
        </p:nvSpPr>
        <p:spPr>
          <a:xfrm>
            <a:off x="6172200" y="841248"/>
            <a:ext cx="2560320" cy="1051560"/>
          </a:xfrm>
          <a:prstGeom prst="rect">
            <a:avLst/>
          </a:prstGeom>
          <a:solidFill>
            <a:srgbClr val="64748B"/>
          </a:solidFill>
          <a:ln cap="flat" cmpd="sng" w="12700">
            <a:solidFill>
              <a:srgbClr val="64748B"/>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6"/>
          <p:cNvSpPr/>
          <p:nvPr/>
        </p:nvSpPr>
        <p:spPr>
          <a:xfrm>
            <a:off x="6172200" y="914400"/>
            <a:ext cx="2560320" cy="578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4,970</a:t>
            </a:r>
            <a:endParaRPr sz="3600">
              <a:solidFill>
                <a:schemeClr val="dk1"/>
              </a:solidFill>
              <a:latin typeface="Calibri"/>
              <a:ea typeface="Calibri"/>
              <a:cs typeface="Calibri"/>
              <a:sym typeface="Calibri"/>
            </a:endParaRPr>
          </a:p>
        </p:txBody>
      </p:sp>
      <p:sp>
        <p:nvSpPr>
          <p:cNvPr id="316" name="Google Shape;316;p16"/>
          <p:cNvSpPr/>
          <p:nvPr/>
        </p:nvSpPr>
        <p:spPr>
          <a:xfrm>
            <a:off x="6172200" y="1451153"/>
            <a:ext cx="2560320" cy="39959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Transistors (binary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baseline)</a:t>
            </a:r>
            <a:endParaRPr sz="1100">
              <a:solidFill>
                <a:schemeClr val="dk1"/>
              </a:solidFill>
              <a:latin typeface="Calibri"/>
              <a:ea typeface="Calibri"/>
              <a:cs typeface="Calibri"/>
              <a:sym typeface="Calibri"/>
            </a:endParaRPr>
          </a:p>
        </p:txBody>
      </p:sp>
      <p:pic>
        <p:nvPicPr>
          <p:cNvPr id="317" name="Google Shape;317;p16"/>
          <p:cNvPicPr preferRelativeResize="0"/>
          <p:nvPr/>
        </p:nvPicPr>
        <p:blipFill rotWithShape="1">
          <a:blip r:embed="rId3">
            <a:alphaModFix/>
          </a:blip>
          <a:srcRect b="0" l="0" r="0" t="0"/>
          <a:stretch/>
        </p:blipFill>
        <p:spPr>
          <a:xfrm>
            <a:off x="411480" y="2011680"/>
            <a:ext cx="4023360" cy="2743200"/>
          </a:xfrm>
          <a:prstGeom prst="rect">
            <a:avLst/>
          </a:prstGeom>
          <a:noFill/>
          <a:ln>
            <a:noFill/>
          </a:ln>
        </p:spPr>
      </p:pic>
      <p:sp>
        <p:nvSpPr>
          <p:cNvPr id="318" name="Google Shape;318;p16"/>
          <p:cNvSpPr/>
          <p:nvPr/>
        </p:nvSpPr>
        <p:spPr>
          <a:xfrm>
            <a:off x="4709160" y="2011680"/>
            <a:ext cx="4023360" cy="123444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6"/>
          <p:cNvSpPr/>
          <p:nvPr/>
        </p:nvSpPr>
        <p:spPr>
          <a:xfrm>
            <a:off x="4709160" y="2011680"/>
            <a:ext cx="64008" cy="1234440"/>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6"/>
          <p:cNvSpPr/>
          <p:nvPr/>
        </p:nvSpPr>
        <p:spPr>
          <a:xfrm>
            <a:off x="4837176" y="2084832"/>
            <a:ext cx="385876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Why Ternary is Smaller</a:t>
            </a:r>
            <a:endParaRPr sz="1300">
              <a:solidFill>
                <a:schemeClr val="dk1"/>
              </a:solidFill>
              <a:latin typeface="Calibri"/>
              <a:ea typeface="Calibri"/>
              <a:cs typeface="Calibri"/>
              <a:sym typeface="Calibri"/>
            </a:endParaRPr>
          </a:p>
        </p:txBody>
      </p:sp>
      <p:sp>
        <p:nvSpPr>
          <p:cNvPr id="321" name="Google Shape;321;p16"/>
          <p:cNvSpPr/>
          <p:nvPr/>
        </p:nvSpPr>
        <p:spPr>
          <a:xfrm>
            <a:off x="4837176" y="2359152"/>
            <a:ext cx="3858768"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Single-trit weights select from {+x, 0, −x} via a 3-way mux — no multiplier circuit. Binary needs a Booth-encoded 8×8 Wallace multiplier. Ternary replaces all multiplication logic with 2:1 mux pairs per activation bit.</a:t>
            </a:r>
            <a:endParaRPr sz="1100">
              <a:solidFill>
                <a:schemeClr val="dk1"/>
              </a:solidFill>
              <a:latin typeface="Calibri"/>
              <a:ea typeface="Calibri"/>
              <a:cs typeface="Calibri"/>
              <a:sym typeface="Calibri"/>
            </a:endParaRPr>
          </a:p>
        </p:txBody>
      </p:sp>
      <p:sp>
        <p:nvSpPr>
          <p:cNvPr id="322" name="Google Shape;322;p16"/>
          <p:cNvSpPr/>
          <p:nvPr/>
        </p:nvSpPr>
        <p:spPr>
          <a:xfrm>
            <a:off x="4709160" y="3337560"/>
            <a:ext cx="4023360" cy="14173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6"/>
          <p:cNvSpPr/>
          <p:nvPr/>
        </p:nvSpPr>
        <p:spPr>
          <a:xfrm>
            <a:off x="4709160" y="3337560"/>
            <a:ext cx="64008" cy="1417320"/>
          </a:xfrm>
          <a:prstGeom prst="rect">
            <a:avLst/>
          </a:prstGeom>
          <a:solidFill>
            <a:srgbClr val="059669"/>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6"/>
          <p:cNvSpPr/>
          <p:nvPr/>
        </p:nvSpPr>
        <p:spPr>
          <a:xfrm>
            <a:off x="4837176" y="3410712"/>
            <a:ext cx="385876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Gate Breakdown</a:t>
            </a:r>
            <a:endParaRPr sz="1300">
              <a:solidFill>
                <a:schemeClr val="dk1"/>
              </a:solidFill>
              <a:latin typeface="Calibri"/>
              <a:ea typeface="Calibri"/>
              <a:cs typeface="Calibri"/>
              <a:sym typeface="Calibri"/>
            </a:endParaRPr>
          </a:p>
        </p:txBody>
      </p:sp>
      <p:sp>
        <p:nvSpPr>
          <p:cNvPr id="325" name="Google Shape;325;p16"/>
          <p:cNvSpPr/>
          <p:nvPr/>
        </p:nvSpPr>
        <p:spPr>
          <a:xfrm>
            <a:off x="4837176" y="3685032"/>
            <a:ext cx="3858768"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Ternary MAC: 303 NAND + 310 NOR + 40 NOT + 24 DFF = 677 cells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Binary MAC:  596 NAND + 562 NOR + 169 NOT + 24 DFF = 1,351 cells</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49.9% reduction — almost exactly half the logic.</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7"/>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7"/>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Evaluation: Track A — OpenSTA on Nangate45</a:t>
            </a:r>
            <a:endParaRPr sz="2400">
              <a:solidFill>
                <a:schemeClr val="dk1"/>
              </a:solidFill>
              <a:latin typeface="Calibri"/>
              <a:ea typeface="Calibri"/>
              <a:cs typeface="Calibri"/>
              <a:sym typeface="Calibri"/>
            </a:endParaRPr>
          </a:p>
        </p:txBody>
      </p:sp>
      <p:sp>
        <p:nvSpPr>
          <p:cNvPr id="333" name="Google Shape;333;p17"/>
          <p:cNvSpPr/>
          <p:nvPr/>
        </p:nvSpPr>
        <p:spPr>
          <a:xfrm>
            <a:off x="411480" y="841248"/>
            <a:ext cx="1920240" cy="1097280"/>
          </a:xfrm>
          <a:prstGeom prst="rect">
            <a:avLst/>
          </a:prstGeom>
          <a:solidFill>
            <a:srgbClr val="059669"/>
          </a:solidFill>
          <a:ln cap="flat" cmpd="sng" w="12700">
            <a:solidFill>
              <a:srgbClr val="059669"/>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7"/>
          <p:cNvSpPr/>
          <p:nvPr/>
        </p:nvSpPr>
        <p:spPr>
          <a:xfrm>
            <a:off x="4114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46.5%</a:t>
            </a:r>
            <a:endParaRPr sz="3600">
              <a:solidFill>
                <a:schemeClr val="dk1"/>
              </a:solidFill>
              <a:latin typeface="Calibri"/>
              <a:ea typeface="Calibri"/>
              <a:cs typeface="Calibri"/>
              <a:sym typeface="Calibri"/>
            </a:endParaRPr>
          </a:p>
        </p:txBody>
      </p:sp>
      <p:sp>
        <p:nvSpPr>
          <p:cNvPr id="335" name="Google Shape;335;p17"/>
          <p:cNvSpPr/>
          <p:nvPr/>
        </p:nvSpPr>
        <p:spPr>
          <a:xfrm>
            <a:off x="4114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Area reduction</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(Nangate45 µm²)</a:t>
            </a:r>
            <a:endParaRPr sz="1100">
              <a:solidFill>
                <a:schemeClr val="dk1"/>
              </a:solidFill>
              <a:latin typeface="Calibri"/>
              <a:ea typeface="Calibri"/>
              <a:cs typeface="Calibri"/>
              <a:sym typeface="Calibri"/>
            </a:endParaRPr>
          </a:p>
        </p:txBody>
      </p:sp>
      <p:sp>
        <p:nvSpPr>
          <p:cNvPr id="336" name="Google Shape;336;p17"/>
          <p:cNvSpPr/>
          <p:nvPr/>
        </p:nvSpPr>
        <p:spPr>
          <a:xfrm>
            <a:off x="2468880" y="841248"/>
            <a:ext cx="1920240" cy="1097280"/>
          </a:xfrm>
          <a:prstGeom prst="rect">
            <a:avLst/>
          </a:prstGeom>
          <a:solidFill>
            <a:srgbClr val="0369A1"/>
          </a:solidFill>
          <a:ln cap="flat" cmpd="sng" w="12700">
            <a:solidFill>
              <a:srgbClr val="0369A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7"/>
          <p:cNvSpPr/>
          <p:nvPr/>
        </p:nvSpPr>
        <p:spPr>
          <a:xfrm>
            <a:off x="24688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−4.1%</a:t>
            </a:r>
            <a:endParaRPr sz="3600">
              <a:solidFill>
                <a:schemeClr val="dk1"/>
              </a:solidFill>
              <a:latin typeface="Calibri"/>
              <a:ea typeface="Calibri"/>
              <a:cs typeface="Calibri"/>
              <a:sym typeface="Calibri"/>
            </a:endParaRPr>
          </a:p>
        </p:txBody>
      </p:sp>
      <p:sp>
        <p:nvSpPr>
          <p:cNvPr id="338" name="Google Shape;338;p17"/>
          <p:cNvSpPr/>
          <p:nvPr/>
        </p:nvSpPr>
        <p:spPr>
          <a:xfrm>
            <a:off x="24688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Critical path</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reduction</a:t>
            </a:r>
            <a:endParaRPr sz="1100">
              <a:solidFill>
                <a:schemeClr val="dk1"/>
              </a:solidFill>
              <a:latin typeface="Calibri"/>
              <a:ea typeface="Calibri"/>
              <a:cs typeface="Calibri"/>
              <a:sym typeface="Calibri"/>
            </a:endParaRPr>
          </a:p>
        </p:txBody>
      </p:sp>
      <p:sp>
        <p:nvSpPr>
          <p:cNvPr id="339" name="Google Shape;339;p17"/>
          <p:cNvSpPr/>
          <p:nvPr/>
        </p:nvSpPr>
        <p:spPr>
          <a:xfrm>
            <a:off x="4526280" y="841248"/>
            <a:ext cx="1920240" cy="1097280"/>
          </a:xfrm>
          <a:prstGeom prst="rect">
            <a:avLst/>
          </a:prstGeom>
          <a:solidFill>
            <a:srgbClr val="8900E1"/>
          </a:solidFill>
          <a:ln cap="flat" cmpd="sng" w="12700">
            <a:solidFill>
              <a:srgbClr val="8900E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7"/>
          <p:cNvSpPr/>
          <p:nvPr/>
        </p:nvSpPr>
        <p:spPr>
          <a:xfrm>
            <a:off x="45262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70.3%</a:t>
            </a:r>
            <a:endParaRPr sz="3600">
              <a:solidFill>
                <a:schemeClr val="dk1"/>
              </a:solidFill>
              <a:latin typeface="Calibri"/>
              <a:ea typeface="Calibri"/>
              <a:cs typeface="Calibri"/>
              <a:sym typeface="Calibri"/>
            </a:endParaRPr>
          </a:p>
        </p:txBody>
      </p:sp>
      <p:sp>
        <p:nvSpPr>
          <p:cNvPr id="341" name="Google Shape;341;p17"/>
          <p:cNvSpPr/>
          <p:nvPr/>
        </p:nvSpPr>
        <p:spPr>
          <a:xfrm>
            <a:off x="45262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Dynamic power</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reduction</a:t>
            </a:r>
            <a:endParaRPr sz="1100">
              <a:solidFill>
                <a:schemeClr val="dk1"/>
              </a:solidFill>
              <a:latin typeface="Calibri"/>
              <a:ea typeface="Calibri"/>
              <a:cs typeface="Calibri"/>
              <a:sym typeface="Calibri"/>
            </a:endParaRPr>
          </a:p>
        </p:txBody>
      </p:sp>
      <p:sp>
        <p:nvSpPr>
          <p:cNvPr id="342" name="Google Shape;342;p17"/>
          <p:cNvSpPr/>
          <p:nvPr/>
        </p:nvSpPr>
        <p:spPr>
          <a:xfrm>
            <a:off x="6583680" y="841248"/>
            <a:ext cx="1920240" cy="1097280"/>
          </a:xfrm>
          <a:prstGeom prst="rect">
            <a:avLst/>
          </a:prstGeom>
          <a:solidFill>
            <a:srgbClr val="57068C"/>
          </a:solidFill>
          <a:ln cap="flat" cmpd="sng" w="12700">
            <a:solidFill>
              <a:srgbClr val="57068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7"/>
          <p:cNvSpPr/>
          <p:nvPr/>
        </p:nvSpPr>
        <p:spPr>
          <a:xfrm>
            <a:off x="65836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81.9%</a:t>
            </a:r>
            <a:endParaRPr sz="3600">
              <a:solidFill>
                <a:schemeClr val="dk1"/>
              </a:solidFill>
              <a:latin typeface="Calibri"/>
              <a:ea typeface="Calibri"/>
              <a:cs typeface="Calibri"/>
              <a:sym typeface="Calibri"/>
            </a:endParaRPr>
          </a:p>
        </p:txBody>
      </p:sp>
      <p:sp>
        <p:nvSpPr>
          <p:cNvPr id="344" name="Google Shape;344;p17"/>
          <p:cNvSpPr/>
          <p:nvPr/>
        </p:nvSpPr>
        <p:spPr>
          <a:xfrm>
            <a:off x="65836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End-to-end energy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savings per inference</a:t>
            </a:r>
            <a:endParaRPr sz="1100">
              <a:solidFill>
                <a:schemeClr val="dk1"/>
              </a:solidFill>
              <a:latin typeface="Calibri"/>
              <a:ea typeface="Calibri"/>
              <a:cs typeface="Calibri"/>
              <a:sym typeface="Calibri"/>
            </a:endParaRPr>
          </a:p>
        </p:txBody>
      </p:sp>
      <p:sp>
        <p:nvSpPr>
          <p:cNvPr id="345" name="Google Shape;345;p17"/>
          <p:cNvSpPr/>
          <p:nvPr/>
        </p:nvSpPr>
        <p:spPr>
          <a:xfrm>
            <a:off x="411480" y="2029968"/>
            <a:ext cx="8321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lang="en-US" sz="1200">
                <a:solidFill>
                  <a:srgbClr val="57068C"/>
                </a:solidFill>
                <a:latin typeface="Calibri"/>
                <a:ea typeface="Calibri"/>
                <a:cs typeface="Calibri"/>
                <a:sym typeface="Calibri"/>
              </a:rPr>
              <a:t>Nangate45 45 nm process node — compared per MAC unit</a:t>
            </a:r>
            <a:endParaRPr sz="1200">
              <a:solidFill>
                <a:schemeClr val="dk1"/>
              </a:solidFill>
              <a:latin typeface="Calibri"/>
              <a:ea typeface="Calibri"/>
              <a:cs typeface="Calibri"/>
              <a:sym typeface="Calibri"/>
            </a:endParaRPr>
          </a:p>
        </p:txBody>
      </p:sp>
      <p:graphicFrame>
        <p:nvGraphicFramePr>
          <p:cNvPr id="346" name="Google Shape;346;p17"/>
          <p:cNvGraphicFramePr/>
          <p:nvPr/>
        </p:nvGraphicFramePr>
        <p:xfrm>
          <a:off x="411480" y="2377440"/>
          <a:ext cx="3000000" cy="3000000"/>
        </p:xfrm>
        <a:graphic>
          <a:graphicData uri="http://schemas.openxmlformats.org/drawingml/2006/table">
            <a:tbl>
              <a:tblPr>
                <a:noFill/>
                <a:tableStyleId>{08ACB7BB-CF12-44D4-AE08-C73071F11F27}</a:tableStyleId>
              </a:tblPr>
              <a:tblGrid>
                <a:gridCol w="2080250"/>
                <a:gridCol w="2080250"/>
                <a:gridCol w="2080250"/>
                <a:gridCol w="2080250"/>
              </a:tblGrid>
              <a:tr h="40232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Metric</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Binary 8×8</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Ternary 1-trit</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Reduction</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r>
              <a:tr h="4023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Area (μm²)</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866.6</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463.9</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59669"/>
                        </a:buClr>
                        <a:buSzPts val="1200"/>
                        <a:buFont typeface="Calibri"/>
                        <a:buNone/>
                      </a:pPr>
                      <a:r>
                        <a:rPr b="1" lang="en-US" sz="1200" u="none" cap="none" strike="noStrike">
                          <a:solidFill>
                            <a:srgbClr val="059669"/>
                          </a:solidFill>
                        </a:rPr>
                        <a:t>−46.5%</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Critical path (ns)</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1.507</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1.445</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59669"/>
                        </a:buClr>
                        <a:buSzPts val="1200"/>
                        <a:buFont typeface="Calibri"/>
                        <a:buNone/>
                      </a:pPr>
                      <a:r>
                        <a:rPr b="1" lang="en-US" sz="1200" u="none" cap="none" strike="noStrike">
                          <a:solidFill>
                            <a:srgbClr val="059669"/>
                          </a:solidFill>
                        </a:rPr>
                        <a:t>−4.1%</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Dynamic power (μW)</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477.2</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138.1</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59669"/>
                        </a:buClr>
                        <a:buSzPts val="1200"/>
                        <a:buFont typeface="Calibri"/>
                        <a:buNone/>
                      </a:pPr>
                      <a:r>
                        <a:rPr b="1" lang="en-US" sz="1200" u="none" cap="none" strike="noStrike">
                          <a:solidFill>
                            <a:srgbClr val="059669"/>
                          </a:solidFill>
                        </a:rPr>
                        <a:t>−71.0%</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Cell count</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634</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278</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59669"/>
                        </a:buClr>
                        <a:buSzPts val="1200"/>
                        <a:buFont typeface="Calibri"/>
                        <a:buNone/>
                      </a:pPr>
                      <a:r>
                        <a:rPr b="1" lang="en-US" sz="1200" u="none" cap="none" strike="noStrike">
                          <a:solidFill>
                            <a:srgbClr val="059669"/>
                          </a:solidFill>
                        </a:rPr>
                        <a:t>−56.2%</a:t>
                      </a:r>
                      <a:endParaRPr sz="12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347" name="Google Shape;347;p17"/>
          <p:cNvSpPr/>
          <p:nvPr/>
        </p:nvSpPr>
        <p:spPr>
          <a:xfrm>
            <a:off x="411480" y="4526280"/>
            <a:ext cx="8321040" cy="594360"/>
          </a:xfrm>
          <a:prstGeom prst="rect">
            <a:avLst/>
          </a:prstGeom>
          <a:solidFill>
            <a:srgbClr val="EDE9F8"/>
          </a:solidFill>
          <a:ln cap="flat" cmpd="sng" w="12700">
            <a:solidFill>
              <a:srgbClr val="C4B5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7"/>
          <p:cNvSpPr/>
          <p:nvPr/>
        </p:nvSpPr>
        <p:spPr>
          <a:xfrm>
            <a:off x="548640" y="4553712"/>
            <a:ext cx="80467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0050"/>
              </a:buClr>
              <a:buSzPts val="1100"/>
              <a:buFont typeface="Calibri"/>
              <a:buNone/>
            </a:pPr>
            <a:r>
              <a:rPr lang="en-US" sz="1100">
                <a:solidFill>
                  <a:srgbClr val="330050"/>
                </a:solidFill>
                <a:latin typeface="Calibri"/>
                <a:ea typeface="Calibri"/>
                <a:cs typeface="Calibri"/>
                <a:sym typeface="Calibri"/>
              </a:rPr>
              <a:t>Energy bridge: workload-aware dynamic power 82.1% reduction × 38% zero-weight sparsity → 81.9% total energy reduction per inference: 1.777 mJ (standard) → 0.322 mJ (ternary).</a:t>
            </a:r>
            <a:endParaRPr sz="11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18"/>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8"/>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Evidence: Phase 3 — OpenSTA Hardware Charts</a:t>
            </a:r>
            <a:endParaRPr sz="2400">
              <a:solidFill>
                <a:schemeClr val="dk1"/>
              </a:solidFill>
              <a:latin typeface="Calibri"/>
              <a:ea typeface="Calibri"/>
              <a:cs typeface="Calibri"/>
              <a:sym typeface="Calibri"/>
            </a:endParaRPr>
          </a:p>
        </p:txBody>
      </p:sp>
      <p:pic>
        <p:nvPicPr>
          <p:cNvPr descr="preencoded.png" id="356" name="Google Shape;356;p18"/>
          <p:cNvPicPr preferRelativeResize="0"/>
          <p:nvPr/>
        </p:nvPicPr>
        <p:blipFill rotWithShape="1">
          <a:blip r:embed="rId3">
            <a:alphaModFix/>
          </a:blip>
          <a:srcRect b="0" l="0" r="0" t="0"/>
          <a:stretch/>
        </p:blipFill>
        <p:spPr>
          <a:xfrm>
            <a:off x="274320" y="749808"/>
            <a:ext cx="6217920" cy="4114800"/>
          </a:xfrm>
          <a:prstGeom prst="rect">
            <a:avLst/>
          </a:prstGeom>
          <a:noFill/>
          <a:ln>
            <a:noFill/>
          </a:ln>
        </p:spPr>
      </p:pic>
      <p:sp>
        <p:nvSpPr>
          <p:cNvPr id="357" name="Google Shape;357;p18"/>
          <p:cNvSpPr/>
          <p:nvPr/>
        </p:nvSpPr>
        <p:spPr>
          <a:xfrm>
            <a:off x="6629400" y="777240"/>
            <a:ext cx="2103120" cy="4087368"/>
          </a:xfrm>
          <a:prstGeom prst="rect">
            <a:avLst/>
          </a:prstGeom>
          <a:solidFill>
            <a:srgbClr val="EDE9F8"/>
          </a:solidFill>
          <a:ln cap="flat" cmpd="sng" w="12700">
            <a:solidFill>
              <a:srgbClr val="C4B5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8"/>
          <p:cNvSpPr/>
          <p:nvPr/>
        </p:nvSpPr>
        <p:spPr>
          <a:xfrm>
            <a:off x="6720840" y="868680"/>
            <a:ext cx="1920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200"/>
              <a:buFont typeface="Calibri"/>
              <a:buNone/>
            </a:pPr>
            <a:r>
              <a:rPr b="1" lang="en-US" sz="1200">
                <a:solidFill>
                  <a:srgbClr val="57068C"/>
                </a:solidFill>
                <a:latin typeface="Calibri"/>
                <a:ea typeface="Calibri"/>
                <a:cs typeface="Calibri"/>
                <a:sym typeface="Calibri"/>
              </a:rPr>
              <a:t>Nangate45 45nm</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57068C"/>
              </a:buClr>
              <a:buSzPts val="1200"/>
              <a:buFont typeface="Calibri"/>
              <a:buNone/>
            </a:pPr>
            <a:r>
              <a:rPr b="1" lang="en-US" sz="1200">
                <a:solidFill>
                  <a:srgbClr val="57068C"/>
                </a:solidFill>
                <a:latin typeface="Calibri"/>
                <a:ea typeface="Calibri"/>
                <a:cs typeface="Calibri"/>
                <a:sym typeface="Calibri"/>
              </a:rPr>
              <a:t>Real Silicon</a:t>
            </a:r>
            <a:endParaRPr sz="1200">
              <a:solidFill>
                <a:schemeClr val="dk1"/>
              </a:solidFill>
              <a:latin typeface="Calibri"/>
              <a:ea typeface="Calibri"/>
              <a:cs typeface="Calibri"/>
              <a:sym typeface="Calibri"/>
            </a:endParaRPr>
          </a:p>
        </p:txBody>
      </p:sp>
      <p:sp>
        <p:nvSpPr>
          <p:cNvPr id="359" name="Google Shape;359;p18"/>
          <p:cNvSpPr/>
          <p:nvPr/>
        </p:nvSpPr>
        <p:spPr>
          <a:xfrm>
            <a:off x="6720840" y="1371600"/>
            <a:ext cx="192024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Area: 867 → 464 µm²</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(−46.5%)</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Delay: 1.507 → 1.445 ns</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(−4.1%)</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Dynamic power: 477 → 138 µW</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(−71%)</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Total power: 496 → 148 µW</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(−70.3%)</a:t>
            </a:r>
            <a:endParaRPr sz="10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000"/>
              <a:buFont typeface="Calibri"/>
              <a:buChar char="•"/>
            </a:pPr>
            <a:r>
              <a:rPr lang="en-US" sz="1000">
                <a:solidFill>
                  <a:srgbClr val="1E1B2E"/>
                </a:solidFill>
                <a:latin typeface="Calibri"/>
                <a:ea typeface="Calibri"/>
                <a:cs typeface="Calibri"/>
                <a:sym typeface="Calibri"/>
              </a:rPr>
              <a:t>OpenSTA verified at Vdd=1.1V, 25°C typical corner</a:t>
            </a:r>
            <a:endParaRPr sz="10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0050"/>
        </a:solidFill>
      </p:bgPr>
    </p:bg>
    <p:spTree>
      <p:nvGrpSpPr>
        <p:cNvPr id="364" name="Shape 364"/>
        <p:cNvGrpSpPr/>
        <p:nvPr/>
      </p:nvGrpSpPr>
      <p:grpSpPr>
        <a:xfrm>
          <a:off x="0" y="0"/>
          <a:ext cx="0" cy="0"/>
          <a:chOff x="0" y="0"/>
          <a:chExt cx="0" cy="0"/>
        </a:xfrm>
      </p:grpSpPr>
      <p:sp>
        <p:nvSpPr>
          <p:cNvPr id="365" name="Google Shape;365;p19"/>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9"/>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Track B: Extending to Multi-Trit Weights</a:t>
            </a:r>
            <a:endParaRPr sz="2400">
              <a:solidFill>
                <a:schemeClr val="dk1"/>
              </a:solidFill>
              <a:latin typeface="Calibri"/>
              <a:ea typeface="Calibri"/>
              <a:cs typeface="Calibri"/>
              <a:sym typeface="Calibri"/>
            </a:endParaRPr>
          </a:p>
        </p:txBody>
      </p:sp>
      <p:sp>
        <p:nvSpPr>
          <p:cNvPr id="367" name="Google Shape;367;p19"/>
          <p:cNvSpPr/>
          <p:nvPr/>
        </p:nvSpPr>
        <p:spPr>
          <a:xfrm>
            <a:off x="457200" y="7772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518"/>
              </a:buClr>
              <a:buSzPts val="1800"/>
              <a:buFont typeface="Calibri"/>
              <a:buNone/>
            </a:pPr>
            <a:r>
              <a:rPr b="1" lang="en-US" sz="1800">
                <a:solidFill>
                  <a:srgbClr val="F5C518"/>
                </a:solidFill>
                <a:latin typeface="Calibri"/>
                <a:ea typeface="Calibri"/>
                <a:cs typeface="Calibri"/>
                <a:sym typeface="Calibri"/>
              </a:rPr>
              <a:t>From 3 levels to 27+</a:t>
            </a:r>
            <a:endParaRPr sz="1800">
              <a:solidFill>
                <a:schemeClr val="dk1"/>
              </a:solidFill>
              <a:latin typeface="Calibri"/>
              <a:ea typeface="Calibri"/>
              <a:cs typeface="Calibri"/>
              <a:sym typeface="Calibri"/>
            </a:endParaRPr>
          </a:p>
        </p:txBody>
      </p:sp>
      <p:sp>
        <p:nvSpPr>
          <p:cNvPr id="368" name="Google Shape;368;p19"/>
          <p:cNvSpPr/>
          <p:nvPr/>
        </p:nvSpPr>
        <p:spPr>
          <a:xfrm>
            <a:off x="411480" y="1280160"/>
            <a:ext cx="1920240" cy="2560320"/>
          </a:xfrm>
          <a:prstGeom prst="rect">
            <a:avLst/>
          </a:prstGeom>
          <a:solidFill>
            <a:srgbClr val="220033"/>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9"/>
          <p:cNvSpPr/>
          <p:nvPr/>
        </p:nvSpPr>
        <p:spPr>
          <a:xfrm>
            <a:off x="411480" y="1280160"/>
            <a:ext cx="1920240" cy="438912"/>
          </a:xfrm>
          <a:prstGeom prst="rect">
            <a:avLst/>
          </a:prstGeom>
          <a:solidFill>
            <a:srgbClr val="0369A1"/>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9"/>
          <p:cNvSpPr/>
          <p:nvPr/>
        </p:nvSpPr>
        <p:spPr>
          <a:xfrm>
            <a:off x="411480" y="1280160"/>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Track A (1-trit)</a:t>
            </a:r>
            <a:endParaRPr sz="1200">
              <a:solidFill>
                <a:schemeClr val="dk1"/>
              </a:solidFill>
              <a:latin typeface="Calibri"/>
              <a:ea typeface="Calibri"/>
              <a:cs typeface="Calibri"/>
              <a:sym typeface="Calibri"/>
            </a:endParaRPr>
          </a:p>
        </p:txBody>
      </p:sp>
      <p:sp>
        <p:nvSpPr>
          <p:cNvPr id="371" name="Google Shape;371;p19"/>
          <p:cNvSpPr/>
          <p:nvPr/>
        </p:nvSpPr>
        <p:spPr>
          <a:xfrm>
            <a:off x="502920" y="1783080"/>
            <a:ext cx="173736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{−1, 0, +1}</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3 levels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One mux per activation bit</a:t>
            </a:r>
            <a:endParaRPr sz="1100">
              <a:solidFill>
                <a:schemeClr val="dk1"/>
              </a:solidFill>
              <a:latin typeface="Calibri"/>
              <a:ea typeface="Calibri"/>
              <a:cs typeface="Calibri"/>
              <a:sym typeface="Calibri"/>
            </a:endParaRPr>
          </a:p>
        </p:txBody>
      </p:sp>
      <p:sp>
        <p:nvSpPr>
          <p:cNvPr id="372" name="Google Shape;372;p19"/>
          <p:cNvSpPr/>
          <p:nvPr/>
        </p:nvSpPr>
        <p:spPr>
          <a:xfrm>
            <a:off x="2560320" y="1280160"/>
            <a:ext cx="1920240" cy="2560320"/>
          </a:xfrm>
          <a:prstGeom prst="rect">
            <a:avLst/>
          </a:prstGeom>
          <a:solidFill>
            <a:srgbClr val="220033"/>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9"/>
          <p:cNvSpPr/>
          <p:nvPr/>
        </p:nvSpPr>
        <p:spPr>
          <a:xfrm>
            <a:off x="2560320" y="1280160"/>
            <a:ext cx="1920240" cy="438912"/>
          </a:xfrm>
          <a:prstGeom prst="rect">
            <a:avLst/>
          </a:prstGeom>
          <a:solidFill>
            <a:srgbClr val="57068C"/>
          </a:solidFill>
          <a:ln cap="flat" cmpd="sng" w="12700">
            <a:solidFill>
              <a:srgbClr val="5706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9"/>
          <p:cNvSpPr/>
          <p:nvPr/>
        </p:nvSpPr>
        <p:spPr>
          <a:xfrm>
            <a:off x="2560320" y="1280160"/>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Track B (3-trit)</a:t>
            </a:r>
            <a:endParaRPr sz="1200">
              <a:solidFill>
                <a:schemeClr val="dk1"/>
              </a:solidFill>
              <a:latin typeface="Calibri"/>
              <a:ea typeface="Calibri"/>
              <a:cs typeface="Calibri"/>
              <a:sym typeface="Calibri"/>
            </a:endParaRPr>
          </a:p>
        </p:txBody>
      </p:sp>
      <p:sp>
        <p:nvSpPr>
          <p:cNvPr id="375" name="Google Shape;375;p19"/>
          <p:cNvSpPr/>
          <p:nvPr/>
        </p:nvSpPr>
        <p:spPr>
          <a:xfrm>
            <a:off x="2651760" y="1783080"/>
            <a:ext cx="173736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{−13 … +13}</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27 levels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3 mux stages + scaled sum</a:t>
            </a:r>
            <a:endParaRPr sz="1100">
              <a:solidFill>
                <a:schemeClr val="dk1"/>
              </a:solidFill>
              <a:latin typeface="Calibri"/>
              <a:ea typeface="Calibri"/>
              <a:cs typeface="Calibri"/>
              <a:sym typeface="Calibri"/>
            </a:endParaRPr>
          </a:p>
        </p:txBody>
      </p:sp>
      <p:sp>
        <p:nvSpPr>
          <p:cNvPr id="376" name="Google Shape;376;p19"/>
          <p:cNvSpPr/>
          <p:nvPr/>
        </p:nvSpPr>
        <p:spPr>
          <a:xfrm>
            <a:off x="4709160" y="1280160"/>
            <a:ext cx="1920240" cy="2560320"/>
          </a:xfrm>
          <a:prstGeom prst="rect">
            <a:avLst/>
          </a:prstGeom>
          <a:solidFill>
            <a:srgbClr val="220033"/>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9"/>
          <p:cNvSpPr/>
          <p:nvPr/>
        </p:nvSpPr>
        <p:spPr>
          <a:xfrm>
            <a:off x="4709160" y="1280160"/>
            <a:ext cx="1920240" cy="438912"/>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9"/>
          <p:cNvSpPr/>
          <p:nvPr/>
        </p:nvSpPr>
        <p:spPr>
          <a:xfrm>
            <a:off x="4709160" y="1280160"/>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Track B (5-trit)</a:t>
            </a:r>
            <a:endParaRPr sz="1200">
              <a:solidFill>
                <a:schemeClr val="dk1"/>
              </a:solidFill>
              <a:latin typeface="Calibri"/>
              <a:ea typeface="Calibri"/>
              <a:cs typeface="Calibri"/>
              <a:sym typeface="Calibri"/>
            </a:endParaRPr>
          </a:p>
        </p:txBody>
      </p:sp>
      <p:sp>
        <p:nvSpPr>
          <p:cNvPr id="379" name="Google Shape;379;p19"/>
          <p:cNvSpPr/>
          <p:nvPr/>
        </p:nvSpPr>
        <p:spPr>
          <a:xfrm>
            <a:off x="4800600" y="1783080"/>
            <a:ext cx="173736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{−121 … +121}</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243 levels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5 mux stages + scaled sum</a:t>
            </a:r>
            <a:endParaRPr sz="1100">
              <a:solidFill>
                <a:schemeClr val="dk1"/>
              </a:solidFill>
              <a:latin typeface="Calibri"/>
              <a:ea typeface="Calibri"/>
              <a:cs typeface="Calibri"/>
              <a:sym typeface="Calibri"/>
            </a:endParaRPr>
          </a:p>
        </p:txBody>
      </p:sp>
      <p:sp>
        <p:nvSpPr>
          <p:cNvPr id="380" name="Google Shape;380;p19"/>
          <p:cNvSpPr/>
          <p:nvPr/>
        </p:nvSpPr>
        <p:spPr>
          <a:xfrm>
            <a:off x="6858000" y="1280160"/>
            <a:ext cx="1920240" cy="2560320"/>
          </a:xfrm>
          <a:prstGeom prst="rect">
            <a:avLst/>
          </a:prstGeom>
          <a:solidFill>
            <a:srgbClr val="220033"/>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9"/>
          <p:cNvSpPr/>
          <p:nvPr/>
        </p:nvSpPr>
        <p:spPr>
          <a:xfrm>
            <a:off x="6858000" y="1280160"/>
            <a:ext cx="1920240" cy="438912"/>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9"/>
          <p:cNvSpPr/>
          <p:nvPr/>
        </p:nvSpPr>
        <p:spPr>
          <a:xfrm>
            <a:off x="6858000" y="1280160"/>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INT8 Binary</a:t>
            </a:r>
            <a:endParaRPr sz="1200">
              <a:solidFill>
                <a:schemeClr val="dk1"/>
              </a:solidFill>
              <a:latin typeface="Calibri"/>
              <a:ea typeface="Calibri"/>
              <a:cs typeface="Calibri"/>
              <a:sym typeface="Calibri"/>
            </a:endParaRPr>
          </a:p>
        </p:txBody>
      </p:sp>
      <p:sp>
        <p:nvSpPr>
          <p:cNvPr id="383" name="Google Shape;383;p19"/>
          <p:cNvSpPr/>
          <p:nvPr/>
        </p:nvSpPr>
        <p:spPr>
          <a:xfrm>
            <a:off x="6949440" y="1783080"/>
            <a:ext cx="173736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{−128 … +127}</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256 levels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Full 8×8 multiplier</a:t>
            </a:r>
            <a:endParaRPr sz="1100">
              <a:solidFill>
                <a:schemeClr val="dk1"/>
              </a:solidFill>
              <a:latin typeface="Calibri"/>
              <a:ea typeface="Calibri"/>
              <a:cs typeface="Calibri"/>
              <a:sym typeface="Calibri"/>
            </a:endParaRPr>
          </a:p>
        </p:txBody>
      </p:sp>
      <p:sp>
        <p:nvSpPr>
          <p:cNvPr id="384" name="Google Shape;384;p19"/>
          <p:cNvSpPr/>
          <p:nvPr/>
        </p:nvSpPr>
        <p:spPr>
          <a:xfrm>
            <a:off x="457200" y="4005072"/>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518"/>
              </a:buClr>
              <a:buSzPts val="1300"/>
              <a:buFont typeface="Calibri"/>
              <a:buNone/>
            </a:pPr>
            <a:r>
              <a:rPr b="1" lang="en-US" sz="1300">
                <a:solidFill>
                  <a:srgbClr val="F5C518"/>
                </a:solidFill>
                <a:latin typeface="Calibri"/>
                <a:ea typeface="Calibri"/>
                <a:cs typeface="Calibri"/>
                <a:sym typeface="Calibri"/>
              </a:rPr>
              <a:t>The research question:</a:t>
            </a:r>
            <a:endParaRPr sz="1300">
              <a:solidFill>
                <a:schemeClr val="dk1"/>
              </a:solidFill>
              <a:latin typeface="Calibri"/>
              <a:ea typeface="Calibri"/>
              <a:cs typeface="Calibri"/>
              <a:sym typeface="Calibri"/>
            </a:endParaRPr>
          </a:p>
        </p:txBody>
      </p:sp>
      <p:sp>
        <p:nvSpPr>
          <p:cNvPr id="385" name="Google Shape;385;p19"/>
          <p:cNvSpPr/>
          <p:nvPr/>
        </p:nvSpPr>
        <p:spPr>
          <a:xfrm>
            <a:off x="457200" y="4315968"/>
            <a:ext cx="82753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At 3-trit precision, is the hardware still cheaper than INT8 AND does accuracy remain competitive? If yes — 3-trit is a Pareto improvement: better hardware AND better accuracy than INT8.</a:t>
            </a:r>
            <a:endParaRPr sz="1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20"/>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20"/>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Evaluation: Track B — Hardware Results (Yosys)</a:t>
            </a:r>
            <a:endParaRPr sz="2400">
              <a:solidFill>
                <a:schemeClr val="dk1"/>
              </a:solidFill>
              <a:latin typeface="Calibri"/>
              <a:ea typeface="Calibri"/>
              <a:cs typeface="Calibri"/>
              <a:sym typeface="Calibri"/>
            </a:endParaRPr>
          </a:p>
        </p:txBody>
      </p:sp>
      <p:sp>
        <p:nvSpPr>
          <p:cNvPr id="393" name="Google Shape;393;p20"/>
          <p:cNvSpPr/>
          <p:nvPr/>
        </p:nvSpPr>
        <p:spPr>
          <a:xfrm>
            <a:off x="411480" y="841248"/>
            <a:ext cx="1920240" cy="1097280"/>
          </a:xfrm>
          <a:prstGeom prst="rect">
            <a:avLst/>
          </a:prstGeom>
          <a:solidFill>
            <a:srgbClr val="059669"/>
          </a:solidFill>
          <a:ln cap="flat" cmpd="sng" w="12700">
            <a:solidFill>
              <a:srgbClr val="059669"/>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0"/>
          <p:cNvSpPr/>
          <p:nvPr/>
        </p:nvSpPr>
        <p:spPr>
          <a:xfrm>
            <a:off x="4114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26%</a:t>
            </a:r>
            <a:endParaRPr sz="3600">
              <a:solidFill>
                <a:schemeClr val="dk1"/>
              </a:solidFill>
              <a:latin typeface="Calibri"/>
              <a:ea typeface="Calibri"/>
              <a:cs typeface="Calibri"/>
              <a:sym typeface="Calibri"/>
            </a:endParaRPr>
          </a:p>
        </p:txBody>
      </p:sp>
      <p:sp>
        <p:nvSpPr>
          <p:cNvPr id="395" name="Google Shape;395;p20"/>
          <p:cNvSpPr/>
          <p:nvPr/>
        </p:nvSpPr>
        <p:spPr>
          <a:xfrm>
            <a:off x="4114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Smaller than INT8</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at 3-trit precision</a:t>
            </a:r>
            <a:endParaRPr sz="1100">
              <a:solidFill>
                <a:schemeClr val="dk1"/>
              </a:solidFill>
              <a:latin typeface="Calibri"/>
              <a:ea typeface="Calibri"/>
              <a:cs typeface="Calibri"/>
              <a:sym typeface="Calibri"/>
            </a:endParaRPr>
          </a:p>
        </p:txBody>
      </p:sp>
      <p:sp>
        <p:nvSpPr>
          <p:cNvPr id="396" name="Google Shape;396;p20"/>
          <p:cNvSpPr/>
          <p:nvPr/>
        </p:nvSpPr>
        <p:spPr>
          <a:xfrm>
            <a:off x="2468880" y="841248"/>
            <a:ext cx="1920240" cy="1097280"/>
          </a:xfrm>
          <a:prstGeom prst="rect">
            <a:avLst/>
          </a:prstGeom>
          <a:solidFill>
            <a:srgbClr val="57068C"/>
          </a:solidFill>
          <a:ln cap="flat" cmpd="sng" w="12700">
            <a:solidFill>
              <a:srgbClr val="57068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0"/>
          <p:cNvSpPr/>
          <p:nvPr/>
        </p:nvSpPr>
        <p:spPr>
          <a:xfrm>
            <a:off x="24688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3-trit</a:t>
            </a:r>
            <a:endParaRPr sz="3600">
              <a:solidFill>
                <a:schemeClr val="dk1"/>
              </a:solidFill>
              <a:latin typeface="Calibri"/>
              <a:ea typeface="Calibri"/>
              <a:cs typeface="Calibri"/>
              <a:sym typeface="Calibri"/>
            </a:endParaRPr>
          </a:p>
        </p:txBody>
      </p:sp>
      <p:sp>
        <p:nvSpPr>
          <p:cNvPr id="398" name="Google Shape;398;p20"/>
          <p:cNvSpPr/>
          <p:nvPr/>
        </p:nvSpPr>
        <p:spPr>
          <a:xfrm>
            <a:off x="24688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Sweet spot —</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best of both worlds</a:t>
            </a:r>
            <a:endParaRPr sz="1100">
              <a:solidFill>
                <a:schemeClr val="dk1"/>
              </a:solidFill>
              <a:latin typeface="Calibri"/>
              <a:ea typeface="Calibri"/>
              <a:cs typeface="Calibri"/>
              <a:sym typeface="Calibri"/>
            </a:endParaRPr>
          </a:p>
        </p:txBody>
      </p:sp>
      <p:sp>
        <p:nvSpPr>
          <p:cNvPr id="399" name="Google Shape;399;p20"/>
          <p:cNvSpPr/>
          <p:nvPr/>
        </p:nvSpPr>
        <p:spPr>
          <a:xfrm>
            <a:off x="4526280" y="841248"/>
            <a:ext cx="1920240" cy="1097280"/>
          </a:xfrm>
          <a:prstGeom prst="rect">
            <a:avLst/>
          </a:prstGeom>
          <a:solidFill>
            <a:srgbClr val="8900E1"/>
          </a:solidFill>
          <a:ln cap="flat" cmpd="sng" w="12700">
            <a:solidFill>
              <a:srgbClr val="8900E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20"/>
          <p:cNvSpPr/>
          <p:nvPr/>
        </p:nvSpPr>
        <p:spPr>
          <a:xfrm>
            <a:off x="45262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996</a:t>
            </a:r>
            <a:endParaRPr sz="3600">
              <a:solidFill>
                <a:schemeClr val="dk1"/>
              </a:solidFill>
              <a:latin typeface="Calibri"/>
              <a:ea typeface="Calibri"/>
              <a:cs typeface="Calibri"/>
              <a:sym typeface="Calibri"/>
            </a:endParaRPr>
          </a:p>
        </p:txBody>
      </p:sp>
      <p:sp>
        <p:nvSpPr>
          <p:cNvPr id="401" name="Google Shape;401;p20"/>
          <p:cNvSpPr/>
          <p:nvPr/>
        </p:nvSpPr>
        <p:spPr>
          <a:xfrm>
            <a:off x="45262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Cells (ternary)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vs 1,351 binary</a:t>
            </a:r>
            <a:endParaRPr sz="1100">
              <a:solidFill>
                <a:schemeClr val="dk1"/>
              </a:solidFill>
              <a:latin typeface="Calibri"/>
              <a:ea typeface="Calibri"/>
              <a:cs typeface="Calibri"/>
              <a:sym typeface="Calibri"/>
            </a:endParaRPr>
          </a:p>
        </p:txBody>
      </p:sp>
      <p:sp>
        <p:nvSpPr>
          <p:cNvPr id="402" name="Google Shape;402;p20"/>
          <p:cNvSpPr/>
          <p:nvPr/>
        </p:nvSpPr>
        <p:spPr>
          <a:xfrm>
            <a:off x="6583680" y="841248"/>
            <a:ext cx="1920240" cy="1097280"/>
          </a:xfrm>
          <a:prstGeom prst="rect">
            <a:avLst/>
          </a:prstGeom>
          <a:solidFill>
            <a:srgbClr val="64748B"/>
          </a:solidFill>
          <a:ln cap="flat" cmpd="sng" w="12700">
            <a:solidFill>
              <a:srgbClr val="64748B"/>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0"/>
          <p:cNvSpPr/>
          <p:nvPr/>
        </p:nvSpPr>
        <p:spPr>
          <a:xfrm>
            <a:off x="6583680" y="914400"/>
            <a:ext cx="192024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3→4</a:t>
            </a:r>
            <a:endParaRPr sz="3600">
              <a:solidFill>
                <a:schemeClr val="dk1"/>
              </a:solidFill>
              <a:latin typeface="Calibri"/>
              <a:ea typeface="Calibri"/>
              <a:cs typeface="Calibri"/>
              <a:sym typeface="Calibri"/>
            </a:endParaRPr>
          </a:p>
        </p:txBody>
      </p:sp>
      <p:sp>
        <p:nvSpPr>
          <p:cNvPr id="404" name="Google Shape;404;p20"/>
          <p:cNvSpPr/>
          <p:nvPr/>
        </p:nvSpPr>
        <p:spPr>
          <a:xfrm>
            <a:off x="6583680" y="1477670"/>
            <a:ext cx="1920240" cy="4169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Crossover between</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3-trit and 4-trit</a:t>
            </a:r>
            <a:endParaRPr sz="1100">
              <a:solidFill>
                <a:schemeClr val="dk1"/>
              </a:solidFill>
              <a:latin typeface="Calibri"/>
              <a:ea typeface="Calibri"/>
              <a:cs typeface="Calibri"/>
              <a:sym typeface="Calibri"/>
            </a:endParaRPr>
          </a:p>
        </p:txBody>
      </p:sp>
      <p:pic>
        <p:nvPicPr>
          <p:cNvPr id="405" name="Google Shape;405;p20"/>
          <p:cNvPicPr preferRelativeResize="0"/>
          <p:nvPr/>
        </p:nvPicPr>
        <p:blipFill rotWithShape="1">
          <a:blip r:embed="rId3">
            <a:alphaModFix/>
          </a:blip>
          <a:srcRect b="0" l="0" r="0" t="0"/>
          <a:stretch/>
        </p:blipFill>
        <p:spPr>
          <a:xfrm>
            <a:off x="411480" y="2029968"/>
            <a:ext cx="4389120" cy="2743200"/>
          </a:xfrm>
          <a:prstGeom prst="rect">
            <a:avLst/>
          </a:prstGeom>
          <a:noFill/>
          <a:ln>
            <a:noFill/>
          </a:ln>
        </p:spPr>
      </p:pic>
      <p:graphicFrame>
        <p:nvGraphicFramePr>
          <p:cNvPr id="406" name="Google Shape;406;p20"/>
          <p:cNvGraphicFramePr/>
          <p:nvPr/>
        </p:nvGraphicFramePr>
        <p:xfrm>
          <a:off x="4983480" y="2029968"/>
          <a:ext cx="3000000" cy="3000000"/>
        </p:xfrm>
        <a:graphic>
          <a:graphicData uri="http://schemas.openxmlformats.org/drawingml/2006/table">
            <a:tbl>
              <a:tblPr>
                <a:noFill/>
                <a:tableStyleId>{08ACB7BB-CF12-44D4-AE08-C73071F11F27}</a:tableStyleId>
              </a:tblPr>
              <a:tblGrid>
                <a:gridCol w="937250"/>
                <a:gridCol w="937250"/>
                <a:gridCol w="937250"/>
                <a:gridCol w="937250"/>
              </a:tblGrid>
              <a:tr h="402325">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Precision</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Cells</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Transistors</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vs Binary</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r>
              <a:tr h="402325">
                <a:tc>
                  <a:txBody>
                    <a:bodyPr/>
                    <a:lstStyle/>
                    <a:p>
                      <a:pPr indent="0" lvl="0" marL="0" marR="0" rtl="0" algn="ctr">
                        <a:spcBef>
                          <a:spcPts val="0"/>
                        </a:spcBef>
                        <a:spcAft>
                          <a:spcPts val="0"/>
                        </a:spcAft>
                        <a:buClr>
                          <a:srgbClr val="000000"/>
                        </a:buClr>
                        <a:buSzPts val="1100"/>
                        <a:buFont typeface="Calibri"/>
                        <a:buNone/>
                      </a:pPr>
                      <a:r>
                        <a:rPr b="1" lang="en-US" sz="1100" u="none" cap="none" strike="noStrike">
                          <a:solidFill>
                            <a:srgbClr val="000000"/>
                          </a:solidFill>
                        </a:rPr>
                        <a:t>3-trit ★</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996</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3682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59669"/>
                        </a:buClr>
                        <a:buSzPts val="1100"/>
                        <a:buFont typeface="Calibri"/>
                        <a:buNone/>
                      </a:pPr>
                      <a:r>
                        <a:rPr b="1" lang="en-US" sz="1100" u="none" cap="none" strike="noStrike">
                          <a:solidFill>
                            <a:srgbClr val="059669"/>
                          </a:solidFill>
                        </a:rPr>
                        <a:t>0.74×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4-trit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1457</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5488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DC2626"/>
                        </a:buClr>
                        <a:buSzPts val="1100"/>
                        <a:buFont typeface="Calibri"/>
                        <a:buNone/>
                      </a:pPr>
                      <a:r>
                        <a:rPr b="1" lang="en-US" sz="1100" u="none" cap="none" strike="noStrike">
                          <a:solidFill>
                            <a:srgbClr val="DC2626"/>
                          </a:solidFill>
                        </a:rPr>
                        <a:t>1.08×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5-trit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1924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7318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DC2626"/>
                        </a:buClr>
                        <a:buSzPts val="1100"/>
                        <a:buFont typeface="Calibri"/>
                        <a:buNone/>
                      </a:pPr>
                      <a:r>
                        <a:rPr b="1" lang="en-US" sz="1100" u="none" cap="none" strike="noStrike">
                          <a:solidFill>
                            <a:srgbClr val="DC2626"/>
                          </a:solidFill>
                        </a:rPr>
                        <a:t>1.42×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02325">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Binary 8×8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1351</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4970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100"/>
                        <a:buFont typeface="Calibri"/>
                        <a:buNone/>
                      </a:pPr>
                      <a:r>
                        <a:rPr b="1" lang="en-US" sz="1100" u="none" cap="none" strike="noStrike">
                          <a:solidFill>
                            <a:srgbClr val="64748B"/>
                          </a:solidFill>
                        </a:rPr>
                        <a:t>1.00×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407" name="Google Shape;407;p20"/>
          <p:cNvSpPr/>
          <p:nvPr/>
        </p:nvSpPr>
        <p:spPr>
          <a:xfrm>
            <a:off x="4983480" y="4114800"/>
            <a:ext cx="3749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 3-trit is the sweet spot: fewer cells than INT8, crossover happens between 3 and 4 trits.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Power scales proportionally — 3-trit estimated ~26% less dynamic power than INT8 baseline.</a:t>
            </a:r>
            <a:endParaRPr sz="1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21"/>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1"/>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Evaluation: Track B — Software Accuracy Results</a:t>
            </a:r>
            <a:endParaRPr sz="2400">
              <a:solidFill>
                <a:schemeClr val="dk1"/>
              </a:solidFill>
              <a:latin typeface="Calibri"/>
              <a:ea typeface="Calibri"/>
              <a:cs typeface="Calibri"/>
              <a:sym typeface="Calibri"/>
            </a:endParaRPr>
          </a:p>
        </p:txBody>
      </p:sp>
      <p:sp>
        <p:nvSpPr>
          <p:cNvPr id="415" name="Google Shape;415;p21"/>
          <p:cNvSpPr/>
          <p:nvPr/>
        </p:nvSpPr>
        <p:spPr>
          <a:xfrm>
            <a:off x="411480" y="800100"/>
            <a:ext cx="8321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Expected Results Format</a:t>
            </a:r>
            <a:endParaRPr sz="1300">
              <a:solidFill>
                <a:schemeClr val="dk1"/>
              </a:solidFill>
              <a:latin typeface="Calibri"/>
              <a:ea typeface="Calibri"/>
              <a:cs typeface="Calibri"/>
              <a:sym typeface="Calibri"/>
            </a:endParaRPr>
          </a:p>
        </p:txBody>
      </p:sp>
      <p:graphicFrame>
        <p:nvGraphicFramePr>
          <p:cNvPr id="416" name="Google Shape;416;p21"/>
          <p:cNvGraphicFramePr/>
          <p:nvPr/>
        </p:nvGraphicFramePr>
        <p:xfrm>
          <a:off x="411480" y="1117600"/>
          <a:ext cx="3000000" cy="3000000"/>
        </p:xfrm>
        <a:graphic>
          <a:graphicData uri="http://schemas.openxmlformats.org/drawingml/2006/table">
            <a:tbl>
              <a:tblPr>
                <a:noFill/>
                <a:tableStyleId>{08ACB7BB-CF12-44D4-AE08-C73071F11F27}</a:tableStyleId>
              </a:tblPr>
              <a:tblGrid>
                <a:gridCol w="1664200"/>
                <a:gridCol w="1664200"/>
                <a:gridCol w="1664200"/>
                <a:gridCol w="1664200"/>
                <a:gridCol w="1664200"/>
              </a:tblGrid>
              <a:tr h="3200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Precision</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CIFAR-10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Δ CIFAR-10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CIFAR-100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Δ CIFAR-100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57068C"/>
                    </a:solidFill>
                  </a:tcPr>
                </a:tc>
              </a:tr>
              <a:tr h="320050">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Float baseline</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85.31%</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61.18%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320050">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1-trit (Track A)</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86.66%</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+1.35%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62.02%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+0.84%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320050">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1-trit (new QAT)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25.59%</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−59.72%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1.00%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−60.18%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320050">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2-trit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89.64%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+4.33%</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69.99%</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+8.81%</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320050">
                <a:tc>
                  <a:txBody>
                    <a:bodyPr/>
                    <a:lstStyle/>
                    <a:p>
                      <a:pPr indent="0" lvl="0" marL="0" marR="0" rtl="0" algn="ctr">
                        <a:spcBef>
                          <a:spcPts val="0"/>
                        </a:spcBef>
                        <a:spcAft>
                          <a:spcPts val="0"/>
                        </a:spcAft>
                        <a:buClr>
                          <a:srgbClr val="000000"/>
                        </a:buClr>
                        <a:buSzPts val="1100"/>
                        <a:buFont typeface="Calibri"/>
                        <a:buNone/>
                      </a:pPr>
                      <a:r>
                        <a:rPr b="1" lang="en-US" sz="1100" u="none" cap="none" strike="noStrike">
                          <a:solidFill>
                            <a:srgbClr val="000000"/>
                          </a:solidFill>
                        </a:rPr>
                        <a:t>3-trit ★</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90.50%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+5.19%</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70.48%</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+9.30%</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DE9F8"/>
                    </a:solidFill>
                  </a:tcPr>
                </a:tc>
              </a:tr>
              <a:tr h="320050">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4-trit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90.44%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+5.13%</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70.72%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+9.54%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320050">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5-trit</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90.45%</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+5.14%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70.42%</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100"/>
                        <a:buFont typeface="Calibri"/>
                        <a:buNone/>
                      </a:pPr>
                      <a:r>
                        <a:rPr lang="en-US" sz="1100" u="none" cap="none" strike="noStrike">
                          <a:solidFill>
                            <a:srgbClr val="000000"/>
                          </a:solidFill>
                        </a:rPr>
                        <a:t>+9.24%</a:t>
                      </a:r>
                      <a:endParaRPr sz="1100" u="none" cap="none" strike="noStrike"/>
                    </a:p>
                  </a:txBody>
                  <a:tcPr marT="45725" marB="45725" marR="91450" marL="91450">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417" name="Google Shape;417;p21"/>
          <p:cNvSpPr/>
          <p:nvPr/>
        </p:nvSpPr>
        <p:spPr>
          <a:xfrm>
            <a:off x="411480" y="3784600"/>
            <a:ext cx="83210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100"/>
              <a:buFont typeface="Calibri"/>
              <a:buNone/>
            </a:pPr>
            <a:r>
              <a:rPr i="1" lang="en-US" sz="1100">
                <a:solidFill>
                  <a:srgbClr val="57068C"/>
                </a:solidFill>
                <a:latin typeface="Calibri"/>
                <a:ea typeface="Calibri"/>
                <a:cs typeface="Calibri"/>
                <a:sym typeface="Calibri"/>
              </a:rPr>
              <a:t>The key question: is 3-trit accuracy ≥ float baseline on both datasets? If yes → 3-trit is better hardware AND better accuracy than INT8.</a:t>
            </a:r>
            <a:endParaRPr sz="1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0050"/>
        </a:solidFill>
      </p:bgPr>
    </p:bg>
    <p:spTree>
      <p:nvGrpSpPr>
        <p:cNvPr id="422" name="Shape 422"/>
        <p:cNvGrpSpPr/>
        <p:nvPr/>
      </p:nvGrpSpPr>
      <p:grpSpPr>
        <a:xfrm>
          <a:off x="0" y="0"/>
          <a:ext cx="0" cy="0"/>
          <a:chOff x="0" y="0"/>
          <a:chExt cx="0" cy="0"/>
        </a:xfrm>
      </p:grpSpPr>
      <p:sp>
        <p:nvSpPr>
          <p:cNvPr id="423" name="Google Shape;423;p22"/>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2"/>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The Complete Picture: Hardware + Software</a:t>
            </a:r>
            <a:endParaRPr sz="2400">
              <a:solidFill>
                <a:schemeClr val="dk1"/>
              </a:solidFill>
              <a:latin typeface="Calibri"/>
              <a:ea typeface="Calibri"/>
              <a:cs typeface="Calibri"/>
              <a:sym typeface="Calibri"/>
            </a:endParaRPr>
          </a:p>
        </p:txBody>
      </p:sp>
      <p:sp>
        <p:nvSpPr>
          <p:cNvPr id="425" name="Google Shape;425;p22"/>
          <p:cNvSpPr/>
          <p:nvPr/>
        </p:nvSpPr>
        <p:spPr>
          <a:xfrm>
            <a:off x="45720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BBDD"/>
              </a:buClr>
              <a:buSzPts val="1300"/>
              <a:buFont typeface="Calibri"/>
              <a:buNone/>
            </a:pPr>
            <a:r>
              <a:rPr lang="en-US" sz="1300">
                <a:solidFill>
                  <a:srgbClr val="CCBBDD"/>
                </a:solidFill>
                <a:latin typeface="Calibri"/>
                <a:ea typeface="Calibri"/>
                <a:cs typeface="Calibri"/>
                <a:sym typeface="Calibri"/>
              </a:rPr>
              <a:t>Across two tracks, the research demonstrates a consistent story:</a:t>
            </a:r>
            <a:endParaRPr sz="1300">
              <a:solidFill>
                <a:schemeClr val="dk1"/>
              </a:solidFill>
              <a:latin typeface="Calibri"/>
              <a:ea typeface="Calibri"/>
              <a:cs typeface="Calibri"/>
              <a:sym typeface="Calibri"/>
            </a:endParaRPr>
          </a:p>
        </p:txBody>
      </p:sp>
      <p:sp>
        <p:nvSpPr>
          <p:cNvPr id="426" name="Google Shape;426;p22"/>
          <p:cNvSpPr/>
          <p:nvPr/>
        </p:nvSpPr>
        <p:spPr>
          <a:xfrm>
            <a:off x="411480" y="1234440"/>
            <a:ext cx="8321040" cy="768096"/>
          </a:xfrm>
          <a:prstGeom prst="rect">
            <a:avLst/>
          </a:prstGeom>
          <a:solidFill>
            <a:srgbClr val="220033"/>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22"/>
          <p:cNvSpPr/>
          <p:nvPr/>
        </p:nvSpPr>
        <p:spPr>
          <a:xfrm>
            <a:off x="502920" y="1344168"/>
            <a:ext cx="502920" cy="502920"/>
          </a:xfrm>
          <a:prstGeom prst="ellipse">
            <a:avLst/>
          </a:prstGeom>
          <a:solidFill>
            <a:srgbClr val="0369A1"/>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2"/>
          <p:cNvSpPr/>
          <p:nvPr/>
        </p:nvSpPr>
        <p:spPr>
          <a:xfrm>
            <a:off x="502920" y="13441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429" name="Google Shape;429;p22"/>
          <p:cNvSpPr/>
          <p:nvPr/>
        </p:nvSpPr>
        <p:spPr>
          <a:xfrm>
            <a:off x="1115568" y="1307592"/>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369A1"/>
              </a:buClr>
              <a:buSzPts val="1300"/>
              <a:buFont typeface="Calibri"/>
              <a:buNone/>
            </a:pPr>
            <a:r>
              <a:rPr b="1" lang="en-US" sz="1300">
                <a:solidFill>
                  <a:srgbClr val="0369A1"/>
                </a:solidFill>
                <a:latin typeface="Calibri"/>
                <a:ea typeface="Calibri"/>
                <a:cs typeface="Calibri"/>
                <a:sym typeface="Calibri"/>
              </a:rPr>
              <a:t>Ternary QAT works</a:t>
            </a:r>
            <a:endParaRPr sz="1300">
              <a:solidFill>
                <a:schemeClr val="dk1"/>
              </a:solidFill>
              <a:latin typeface="Calibri"/>
              <a:ea typeface="Calibri"/>
              <a:cs typeface="Calibri"/>
              <a:sym typeface="Calibri"/>
            </a:endParaRPr>
          </a:p>
        </p:txBody>
      </p:sp>
      <p:sp>
        <p:nvSpPr>
          <p:cNvPr id="430" name="Google Shape;430;p22"/>
          <p:cNvSpPr/>
          <p:nvPr/>
        </p:nvSpPr>
        <p:spPr>
          <a:xfrm>
            <a:off x="1115568" y="1600200"/>
            <a:ext cx="7406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1-trit weights beat float accuracy on CIFAR-10 (+1.35%) and CIFAR-100 (+0.84%). Quantization acts as a regularizer.</a:t>
            </a:r>
            <a:endParaRPr sz="1100">
              <a:solidFill>
                <a:schemeClr val="dk1"/>
              </a:solidFill>
              <a:latin typeface="Calibri"/>
              <a:ea typeface="Calibri"/>
              <a:cs typeface="Calibri"/>
              <a:sym typeface="Calibri"/>
            </a:endParaRPr>
          </a:p>
        </p:txBody>
      </p:sp>
      <p:sp>
        <p:nvSpPr>
          <p:cNvPr id="431" name="Google Shape;431;p22"/>
          <p:cNvSpPr/>
          <p:nvPr/>
        </p:nvSpPr>
        <p:spPr>
          <a:xfrm>
            <a:off x="411480" y="2130552"/>
            <a:ext cx="8321040" cy="768096"/>
          </a:xfrm>
          <a:prstGeom prst="rect">
            <a:avLst/>
          </a:prstGeom>
          <a:solidFill>
            <a:srgbClr val="220033"/>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2"/>
          <p:cNvSpPr/>
          <p:nvPr/>
        </p:nvSpPr>
        <p:spPr>
          <a:xfrm>
            <a:off x="502920" y="2240280"/>
            <a:ext cx="502920" cy="50292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2"/>
          <p:cNvSpPr/>
          <p:nvPr/>
        </p:nvSpPr>
        <p:spPr>
          <a:xfrm>
            <a:off x="502920" y="22402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434" name="Google Shape;434;p22"/>
          <p:cNvSpPr/>
          <p:nvPr/>
        </p:nvSpPr>
        <p:spPr>
          <a:xfrm>
            <a:off x="1115568" y="2203704"/>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300"/>
              <a:buFont typeface="Calibri"/>
              <a:buNone/>
            </a:pPr>
            <a:r>
              <a:rPr b="1" lang="en-US" sz="1300">
                <a:solidFill>
                  <a:srgbClr val="059669"/>
                </a:solidFill>
                <a:latin typeface="Calibri"/>
                <a:ea typeface="Calibri"/>
                <a:cs typeface="Calibri"/>
                <a:sym typeface="Calibri"/>
              </a:rPr>
              <a:t>Hardware savings are real</a:t>
            </a:r>
            <a:endParaRPr sz="1300">
              <a:solidFill>
                <a:schemeClr val="dk1"/>
              </a:solidFill>
              <a:latin typeface="Calibri"/>
              <a:ea typeface="Calibri"/>
              <a:cs typeface="Calibri"/>
              <a:sym typeface="Calibri"/>
            </a:endParaRPr>
          </a:p>
        </p:txBody>
      </p:sp>
      <p:sp>
        <p:nvSpPr>
          <p:cNvPr id="435" name="Google Shape;435;p22"/>
          <p:cNvSpPr/>
          <p:nvPr/>
        </p:nvSpPr>
        <p:spPr>
          <a:xfrm>
            <a:off x="1115568" y="2496312"/>
            <a:ext cx="7406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Track A MAC: 47% less area, 81% less power on Nangate45. ~82% energy savings per ResNet-18 inference.</a:t>
            </a:r>
            <a:endParaRPr sz="1100">
              <a:solidFill>
                <a:schemeClr val="dk1"/>
              </a:solidFill>
              <a:latin typeface="Calibri"/>
              <a:ea typeface="Calibri"/>
              <a:cs typeface="Calibri"/>
              <a:sym typeface="Calibri"/>
            </a:endParaRPr>
          </a:p>
        </p:txBody>
      </p:sp>
      <p:sp>
        <p:nvSpPr>
          <p:cNvPr id="436" name="Google Shape;436;p22"/>
          <p:cNvSpPr/>
          <p:nvPr/>
        </p:nvSpPr>
        <p:spPr>
          <a:xfrm>
            <a:off x="411480" y="3026664"/>
            <a:ext cx="8321040" cy="768096"/>
          </a:xfrm>
          <a:prstGeom prst="rect">
            <a:avLst/>
          </a:prstGeom>
          <a:solidFill>
            <a:srgbClr val="220033"/>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2"/>
          <p:cNvSpPr/>
          <p:nvPr/>
        </p:nvSpPr>
        <p:spPr>
          <a:xfrm>
            <a:off x="502920" y="3136392"/>
            <a:ext cx="502920" cy="502920"/>
          </a:xfrm>
          <a:prstGeom prst="ellipse">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2"/>
          <p:cNvSpPr/>
          <p:nvPr/>
        </p:nvSpPr>
        <p:spPr>
          <a:xfrm>
            <a:off x="502920" y="313639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439" name="Google Shape;439;p22"/>
          <p:cNvSpPr/>
          <p:nvPr/>
        </p:nvSpPr>
        <p:spPr>
          <a:xfrm>
            <a:off x="1115568" y="3099816"/>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00E1"/>
              </a:buClr>
              <a:buSzPts val="1300"/>
              <a:buFont typeface="Calibri"/>
              <a:buNone/>
            </a:pPr>
            <a:r>
              <a:rPr b="1" lang="en-US" sz="1300">
                <a:solidFill>
                  <a:srgbClr val="8900E1"/>
                </a:solidFill>
                <a:latin typeface="Calibri"/>
                <a:ea typeface="Calibri"/>
                <a:cs typeface="Calibri"/>
                <a:sym typeface="Calibri"/>
              </a:rPr>
              <a:t>Multi-trit extends the benefit</a:t>
            </a:r>
            <a:endParaRPr sz="1300">
              <a:solidFill>
                <a:schemeClr val="dk1"/>
              </a:solidFill>
              <a:latin typeface="Calibri"/>
              <a:ea typeface="Calibri"/>
              <a:cs typeface="Calibri"/>
              <a:sym typeface="Calibri"/>
            </a:endParaRPr>
          </a:p>
        </p:txBody>
      </p:sp>
      <p:sp>
        <p:nvSpPr>
          <p:cNvPr id="440" name="Google Shape;440;p22"/>
          <p:cNvSpPr/>
          <p:nvPr/>
        </p:nvSpPr>
        <p:spPr>
          <a:xfrm>
            <a:off x="1115568" y="3392424"/>
            <a:ext cx="7406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3-trit weights give 27 levels of precision (vs 3) while remaining 26% smaller than INT8 binary MAC hardware.</a:t>
            </a:r>
            <a:endParaRPr sz="1100">
              <a:solidFill>
                <a:schemeClr val="dk1"/>
              </a:solidFill>
              <a:latin typeface="Calibri"/>
              <a:ea typeface="Calibri"/>
              <a:cs typeface="Calibri"/>
              <a:sym typeface="Calibri"/>
            </a:endParaRPr>
          </a:p>
        </p:txBody>
      </p:sp>
      <p:sp>
        <p:nvSpPr>
          <p:cNvPr id="441" name="Google Shape;441;p22"/>
          <p:cNvSpPr/>
          <p:nvPr/>
        </p:nvSpPr>
        <p:spPr>
          <a:xfrm>
            <a:off x="411480" y="3922776"/>
            <a:ext cx="8321040" cy="768096"/>
          </a:xfrm>
          <a:prstGeom prst="rect">
            <a:avLst/>
          </a:prstGeom>
          <a:solidFill>
            <a:srgbClr val="220033"/>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2"/>
          <p:cNvSpPr/>
          <p:nvPr/>
        </p:nvSpPr>
        <p:spPr>
          <a:xfrm>
            <a:off x="502920" y="4032504"/>
            <a:ext cx="502920" cy="502920"/>
          </a:xfrm>
          <a:prstGeom prst="ellipse">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2"/>
          <p:cNvSpPr/>
          <p:nvPr/>
        </p:nvSpPr>
        <p:spPr>
          <a:xfrm>
            <a:off x="502920" y="40325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444" name="Google Shape;444;p22"/>
          <p:cNvSpPr/>
          <p:nvPr/>
        </p:nvSpPr>
        <p:spPr>
          <a:xfrm>
            <a:off x="1115568" y="3995928"/>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518"/>
              </a:buClr>
              <a:buSzPts val="1300"/>
              <a:buFont typeface="Calibri"/>
              <a:buNone/>
            </a:pPr>
            <a:r>
              <a:rPr b="1" lang="en-US" sz="1300">
                <a:solidFill>
                  <a:srgbClr val="F5C518"/>
                </a:solidFill>
                <a:latin typeface="Calibri"/>
                <a:ea typeface="Calibri"/>
                <a:cs typeface="Calibri"/>
                <a:sym typeface="Calibri"/>
              </a:rPr>
              <a:t>A sweet spot exists</a:t>
            </a:r>
            <a:endParaRPr sz="1300">
              <a:solidFill>
                <a:schemeClr val="dk1"/>
              </a:solidFill>
              <a:latin typeface="Calibri"/>
              <a:ea typeface="Calibri"/>
              <a:cs typeface="Calibri"/>
              <a:sym typeface="Calibri"/>
            </a:endParaRPr>
          </a:p>
        </p:txBody>
      </p:sp>
      <p:sp>
        <p:nvSpPr>
          <p:cNvPr id="445" name="Google Shape;445;p22"/>
          <p:cNvSpPr/>
          <p:nvPr/>
        </p:nvSpPr>
        <p:spPr>
          <a:xfrm>
            <a:off x="1115568" y="4288536"/>
            <a:ext cx="7406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CCEE"/>
              </a:buClr>
              <a:buSzPts val="1100"/>
              <a:buFont typeface="Calibri"/>
              <a:buNone/>
            </a:pPr>
            <a:r>
              <a:rPr lang="en-US" sz="1100">
                <a:solidFill>
                  <a:srgbClr val="DDCCEE"/>
                </a:solidFill>
                <a:latin typeface="Calibri"/>
                <a:ea typeface="Calibri"/>
                <a:cs typeface="Calibri"/>
                <a:sym typeface="Calibri"/>
              </a:rPr>
              <a:t>3 trits is the Pareto frontier — hardware cheaper than INT8, richer weight precision than 1-trit. Crossover at 4 trits.</a:t>
            </a:r>
            <a:endParaRPr sz="11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23"/>
          <p:cNvSpPr/>
          <p:nvPr/>
        </p:nvSpPr>
        <p:spPr>
          <a:xfrm>
            <a:off x="411480" y="182880"/>
            <a:ext cx="54864" cy="475488"/>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23"/>
          <p:cNvSpPr/>
          <p:nvPr/>
        </p:nvSpPr>
        <p:spPr>
          <a:xfrm>
            <a:off x="530352" y="16459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2400"/>
              <a:buFont typeface="Calibri"/>
              <a:buNone/>
            </a:pPr>
            <a:r>
              <a:rPr b="1" lang="en-US" sz="2400">
                <a:solidFill>
                  <a:srgbClr val="57068C"/>
                </a:solidFill>
                <a:latin typeface="Calibri"/>
                <a:ea typeface="Calibri"/>
                <a:cs typeface="Calibri"/>
                <a:sym typeface="Calibri"/>
              </a:rPr>
              <a:t>Limitations &amp; Future Work</a:t>
            </a:r>
            <a:endParaRPr sz="2400">
              <a:solidFill>
                <a:schemeClr val="dk1"/>
              </a:solidFill>
              <a:latin typeface="Calibri"/>
              <a:ea typeface="Calibri"/>
              <a:cs typeface="Calibri"/>
              <a:sym typeface="Calibri"/>
            </a:endParaRPr>
          </a:p>
        </p:txBody>
      </p:sp>
      <p:sp>
        <p:nvSpPr>
          <p:cNvPr id="453" name="Google Shape;453;p23"/>
          <p:cNvSpPr/>
          <p:nvPr/>
        </p:nvSpPr>
        <p:spPr>
          <a:xfrm>
            <a:off x="411480" y="822960"/>
            <a:ext cx="4160520" cy="14173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3"/>
          <p:cNvSpPr/>
          <p:nvPr/>
        </p:nvSpPr>
        <p:spPr>
          <a:xfrm>
            <a:off x="411480" y="822960"/>
            <a:ext cx="64008" cy="1417320"/>
          </a:xfrm>
          <a:prstGeom prst="rect">
            <a:avLst/>
          </a:prstGeom>
          <a:solidFill>
            <a:srgbClr val="DC2626"/>
          </a:solidFill>
          <a:ln cap="flat" cmpd="sng" w="12700">
            <a:solidFill>
              <a:srgbClr val="DC262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3"/>
          <p:cNvSpPr/>
          <p:nvPr/>
        </p:nvSpPr>
        <p:spPr>
          <a:xfrm>
            <a:off x="539496" y="896112"/>
            <a:ext cx="3995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Tech-independent synthesis</a:t>
            </a:r>
            <a:endParaRPr sz="1300">
              <a:solidFill>
                <a:schemeClr val="dk1"/>
              </a:solidFill>
              <a:latin typeface="Calibri"/>
              <a:ea typeface="Calibri"/>
              <a:cs typeface="Calibri"/>
              <a:sym typeface="Calibri"/>
            </a:endParaRPr>
          </a:p>
        </p:txBody>
      </p:sp>
      <p:sp>
        <p:nvSpPr>
          <p:cNvPr id="456" name="Google Shape;456;p23"/>
          <p:cNvSpPr/>
          <p:nvPr/>
        </p:nvSpPr>
        <p:spPr>
          <a:xfrm>
            <a:off x="539496" y="1170432"/>
            <a:ext cx="3995928"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Yosys cmos2 library, not Nangate45 for Track B. OpenSTA pending for absolute area/power numbers.</a:t>
            </a:r>
            <a:endParaRPr sz="1100">
              <a:solidFill>
                <a:schemeClr val="dk1"/>
              </a:solidFill>
              <a:latin typeface="Calibri"/>
              <a:ea typeface="Calibri"/>
              <a:cs typeface="Calibri"/>
              <a:sym typeface="Calibri"/>
            </a:endParaRPr>
          </a:p>
        </p:txBody>
      </p:sp>
      <p:sp>
        <p:nvSpPr>
          <p:cNvPr id="457" name="Google Shape;457;p23"/>
          <p:cNvSpPr/>
          <p:nvPr/>
        </p:nvSpPr>
        <p:spPr>
          <a:xfrm>
            <a:off x="4846320" y="822960"/>
            <a:ext cx="4160520" cy="14173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23"/>
          <p:cNvSpPr/>
          <p:nvPr/>
        </p:nvSpPr>
        <p:spPr>
          <a:xfrm>
            <a:off x="4846320" y="822960"/>
            <a:ext cx="64008" cy="1417320"/>
          </a:xfrm>
          <a:prstGeom prst="rect">
            <a:avLst/>
          </a:prstGeom>
          <a:solidFill>
            <a:srgbClr val="DC2626"/>
          </a:solidFill>
          <a:ln cap="flat" cmpd="sng" w="12700">
            <a:solidFill>
              <a:srgbClr val="DC262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23"/>
          <p:cNvSpPr/>
          <p:nvPr/>
        </p:nvSpPr>
        <p:spPr>
          <a:xfrm>
            <a:off x="4974336" y="896112"/>
            <a:ext cx="3995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Single MAC unit</a:t>
            </a:r>
            <a:endParaRPr sz="1300">
              <a:solidFill>
                <a:schemeClr val="dk1"/>
              </a:solidFill>
              <a:latin typeface="Calibri"/>
              <a:ea typeface="Calibri"/>
              <a:cs typeface="Calibri"/>
              <a:sym typeface="Calibri"/>
            </a:endParaRPr>
          </a:p>
        </p:txBody>
      </p:sp>
      <p:sp>
        <p:nvSpPr>
          <p:cNvPr id="460" name="Google Shape;460;p23"/>
          <p:cNvSpPr/>
          <p:nvPr/>
        </p:nvSpPr>
        <p:spPr>
          <a:xfrm>
            <a:off x="4974336" y="1170432"/>
            <a:ext cx="3995928"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Results are per-MAC. A full systolic array or DNN accelerator may have different routing/SRAM overheads.</a:t>
            </a:r>
            <a:endParaRPr sz="1100">
              <a:solidFill>
                <a:schemeClr val="dk1"/>
              </a:solidFill>
              <a:latin typeface="Calibri"/>
              <a:ea typeface="Calibri"/>
              <a:cs typeface="Calibri"/>
              <a:sym typeface="Calibri"/>
            </a:endParaRPr>
          </a:p>
        </p:txBody>
      </p:sp>
      <p:sp>
        <p:nvSpPr>
          <p:cNvPr id="461" name="Google Shape;461;p23"/>
          <p:cNvSpPr/>
          <p:nvPr/>
        </p:nvSpPr>
        <p:spPr>
          <a:xfrm>
            <a:off x="411480" y="2423160"/>
            <a:ext cx="4160520" cy="14173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23"/>
          <p:cNvSpPr/>
          <p:nvPr/>
        </p:nvSpPr>
        <p:spPr>
          <a:xfrm>
            <a:off x="411480" y="2423160"/>
            <a:ext cx="64008" cy="1417320"/>
          </a:xfrm>
          <a:prstGeom prst="rect">
            <a:avLst/>
          </a:prstGeom>
          <a:solidFill>
            <a:srgbClr val="DC2626"/>
          </a:solidFill>
          <a:ln cap="flat" cmpd="sng" w="12700">
            <a:solidFill>
              <a:srgbClr val="DC262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3"/>
          <p:cNvSpPr/>
          <p:nvPr/>
        </p:nvSpPr>
        <p:spPr>
          <a:xfrm>
            <a:off x="539496" y="2496312"/>
            <a:ext cx="3995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Quantizer mismatch</a:t>
            </a:r>
            <a:endParaRPr sz="1300">
              <a:solidFill>
                <a:schemeClr val="dk1"/>
              </a:solidFill>
              <a:latin typeface="Calibri"/>
              <a:ea typeface="Calibri"/>
              <a:cs typeface="Calibri"/>
              <a:sym typeface="Calibri"/>
            </a:endParaRPr>
          </a:p>
        </p:txBody>
      </p:sp>
      <p:sp>
        <p:nvSpPr>
          <p:cNvPr id="464" name="Google Shape;464;p23"/>
          <p:cNvSpPr/>
          <p:nvPr/>
        </p:nvSpPr>
        <p:spPr>
          <a:xfrm>
            <a:off x="539496" y="2770632"/>
            <a:ext cx="3995928"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Round-to-nearest BT quantizer differs from Track A's α-threshold. Direct comparison requires careful framing.</a:t>
            </a:r>
            <a:endParaRPr sz="1100">
              <a:solidFill>
                <a:schemeClr val="dk1"/>
              </a:solidFill>
              <a:latin typeface="Calibri"/>
              <a:ea typeface="Calibri"/>
              <a:cs typeface="Calibri"/>
              <a:sym typeface="Calibri"/>
            </a:endParaRPr>
          </a:p>
        </p:txBody>
      </p:sp>
      <p:sp>
        <p:nvSpPr>
          <p:cNvPr id="465" name="Google Shape;465;p23"/>
          <p:cNvSpPr/>
          <p:nvPr/>
        </p:nvSpPr>
        <p:spPr>
          <a:xfrm>
            <a:off x="4846320" y="2423160"/>
            <a:ext cx="4160520" cy="14173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23"/>
          <p:cNvSpPr/>
          <p:nvPr/>
        </p:nvSpPr>
        <p:spPr>
          <a:xfrm>
            <a:off x="4846320" y="2423160"/>
            <a:ext cx="64008" cy="1417320"/>
          </a:xfrm>
          <a:prstGeom prst="rect">
            <a:avLst/>
          </a:prstGeom>
          <a:solidFill>
            <a:srgbClr val="DC2626"/>
          </a:solidFill>
          <a:ln cap="flat" cmpd="sng" w="12700">
            <a:solidFill>
              <a:srgbClr val="DC262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3"/>
          <p:cNvSpPr/>
          <p:nvPr/>
        </p:nvSpPr>
        <p:spPr>
          <a:xfrm>
            <a:off x="4974336" y="2496312"/>
            <a:ext cx="3995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300"/>
              <a:buFont typeface="Calibri"/>
              <a:buNone/>
            </a:pPr>
            <a:r>
              <a:rPr b="1" lang="en-US" sz="1300">
                <a:solidFill>
                  <a:srgbClr val="57068C"/>
                </a:solidFill>
                <a:latin typeface="Calibri"/>
                <a:ea typeface="Calibri"/>
                <a:cs typeface="Calibri"/>
                <a:sym typeface="Calibri"/>
              </a:rPr>
              <a:t>No ImageNet results</a:t>
            </a:r>
            <a:endParaRPr sz="1300">
              <a:solidFill>
                <a:schemeClr val="dk1"/>
              </a:solidFill>
              <a:latin typeface="Calibri"/>
              <a:ea typeface="Calibri"/>
              <a:cs typeface="Calibri"/>
              <a:sym typeface="Calibri"/>
            </a:endParaRPr>
          </a:p>
        </p:txBody>
      </p:sp>
      <p:sp>
        <p:nvSpPr>
          <p:cNvPr id="468" name="Google Shape;468;p23"/>
          <p:cNvSpPr/>
          <p:nvPr/>
        </p:nvSpPr>
        <p:spPr>
          <a:xfrm>
            <a:off x="4974336" y="2770632"/>
            <a:ext cx="3995928"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2E"/>
              </a:buClr>
              <a:buSzPts val="1100"/>
              <a:buFont typeface="Calibri"/>
              <a:buNone/>
            </a:pPr>
            <a:r>
              <a:rPr lang="en-US" sz="1100">
                <a:solidFill>
                  <a:srgbClr val="1E1B2E"/>
                </a:solidFill>
                <a:latin typeface="Calibri"/>
                <a:ea typeface="Calibri"/>
                <a:cs typeface="Calibri"/>
                <a:sym typeface="Calibri"/>
              </a:rPr>
              <a:t>Validated on CIFAR-10/100 only. Scaling to ImageNet-scale models is future work.</a:t>
            </a:r>
            <a:endParaRPr sz="1100">
              <a:solidFill>
                <a:schemeClr val="dk1"/>
              </a:solidFill>
              <a:latin typeface="Calibri"/>
              <a:ea typeface="Calibri"/>
              <a:cs typeface="Calibri"/>
              <a:sym typeface="Calibri"/>
            </a:endParaRPr>
          </a:p>
        </p:txBody>
      </p:sp>
      <p:sp>
        <p:nvSpPr>
          <p:cNvPr id="469" name="Google Shape;469;p23"/>
          <p:cNvSpPr/>
          <p:nvPr/>
        </p:nvSpPr>
        <p:spPr>
          <a:xfrm>
            <a:off x="411480" y="4041648"/>
            <a:ext cx="8321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068C"/>
              </a:buClr>
              <a:buSzPts val="1400"/>
              <a:buFont typeface="Calibri"/>
              <a:buNone/>
            </a:pPr>
            <a:r>
              <a:rPr b="1" lang="en-US" sz="1400">
                <a:solidFill>
                  <a:srgbClr val="57068C"/>
                </a:solidFill>
                <a:latin typeface="Calibri"/>
                <a:ea typeface="Calibri"/>
                <a:cs typeface="Calibri"/>
                <a:sym typeface="Calibri"/>
              </a:rPr>
              <a:t>Future Work</a:t>
            </a:r>
            <a:endParaRPr sz="1400">
              <a:solidFill>
                <a:schemeClr val="dk1"/>
              </a:solidFill>
              <a:latin typeface="Calibri"/>
              <a:ea typeface="Calibri"/>
              <a:cs typeface="Calibri"/>
              <a:sym typeface="Calibri"/>
            </a:endParaRPr>
          </a:p>
        </p:txBody>
      </p:sp>
      <p:sp>
        <p:nvSpPr>
          <p:cNvPr id="470" name="Google Shape;470;p23"/>
          <p:cNvSpPr/>
          <p:nvPr/>
        </p:nvSpPr>
        <p:spPr>
          <a:xfrm>
            <a:off x="502920" y="4370832"/>
            <a:ext cx="8229600" cy="731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OpenSTA + Nangate45 for Track B (matching Track A's reporting quality)</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3-trit QAT on ImageNet / larger models (ViT, ResNet-50)</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MAC array integration — 16×16 systolic array area/throughput analysis</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1E1B2E"/>
              </a:buClr>
              <a:buSzPts val="1100"/>
              <a:buFont typeface="Calibri"/>
              <a:buChar char="•"/>
            </a:pPr>
            <a:r>
              <a:rPr lang="en-US" sz="1100">
                <a:solidFill>
                  <a:srgbClr val="1E1B2E"/>
                </a:solidFill>
                <a:latin typeface="Calibri"/>
                <a:ea typeface="Calibri"/>
                <a:cs typeface="Calibri"/>
                <a:sym typeface="Calibri"/>
              </a:rPr>
              <a:t>Explore native ternary devices (memristors, multi-level CMOS) where radix economy fully applies</a:t>
            </a:r>
            <a:endParaRPr sz="11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0050"/>
        </a:solidFill>
      </p:bgPr>
    </p:bg>
    <p:spTree>
      <p:nvGrpSpPr>
        <p:cNvPr id="475" name="Shape 475"/>
        <p:cNvGrpSpPr/>
        <p:nvPr/>
      </p:nvGrpSpPr>
      <p:grpSpPr>
        <a:xfrm>
          <a:off x="0" y="0"/>
          <a:ext cx="0" cy="0"/>
          <a:chOff x="0" y="0"/>
          <a:chExt cx="0" cy="0"/>
        </a:xfrm>
      </p:grpSpPr>
      <p:sp>
        <p:nvSpPr>
          <p:cNvPr id="476" name="Google Shape;476;p24"/>
          <p:cNvSpPr/>
          <p:nvPr/>
        </p:nvSpPr>
        <p:spPr>
          <a:xfrm>
            <a:off x="0" y="0"/>
            <a:ext cx="9144000" cy="73152"/>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4"/>
          <p:cNvSpPr/>
          <p:nvPr/>
        </p:nvSpPr>
        <p:spPr>
          <a:xfrm>
            <a:off x="0" y="5074920"/>
            <a:ext cx="9144000" cy="68580"/>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24"/>
          <p:cNvSpPr/>
          <p:nvPr/>
        </p:nvSpPr>
        <p:spPr>
          <a:xfrm>
            <a:off x="54864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Conclusion</a:t>
            </a:r>
            <a:endParaRPr sz="3000">
              <a:solidFill>
                <a:schemeClr val="dk1"/>
              </a:solidFill>
              <a:latin typeface="Calibri"/>
              <a:ea typeface="Calibri"/>
              <a:cs typeface="Calibri"/>
              <a:sym typeface="Calibri"/>
            </a:endParaRPr>
          </a:p>
        </p:txBody>
      </p:sp>
      <p:sp>
        <p:nvSpPr>
          <p:cNvPr id="479" name="Google Shape;479;p24"/>
          <p:cNvSpPr/>
          <p:nvPr/>
        </p:nvSpPr>
        <p:spPr>
          <a:xfrm>
            <a:off x="457200" y="1024128"/>
            <a:ext cx="54864" cy="502920"/>
          </a:xfrm>
          <a:prstGeom prst="rect">
            <a:avLst/>
          </a:prstGeom>
          <a:solidFill>
            <a:srgbClr val="059669"/>
          </a:solidFill>
          <a:ln cap="flat" cmpd="sng" w="12700">
            <a:solidFill>
              <a:srgbClr val="05966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24"/>
          <p:cNvSpPr/>
          <p:nvPr/>
        </p:nvSpPr>
        <p:spPr>
          <a:xfrm>
            <a:off x="640080" y="914400"/>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Ternary QAT consistently matches or beats float accuracy — the regularization effect is robust across CIFAR-10 and CIFAR-100.</a:t>
            </a:r>
            <a:endParaRPr sz="1200">
              <a:solidFill>
                <a:schemeClr val="dk1"/>
              </a:solidFill>
              <a:latin typeface="Calibri"/>
              <a:ea typeface="Calibri"/>
              <a:cs typeface="Calibri"/>
              <a:sym typeface="Calibri"/>
            </a:endParaRPr>
          </a:p>
        </p:txBody>
      </p:sp>
      <p:sp>
        <p:nvSpPr>
          <p:cNvPr id="481" name="Google Shape;481;p24"/>
          <p:cNvSpPr/>
          <p:nvPr/>
        </p:nvSpPr>
        <p:spPr>
          <a:xfrm>
            <a:off x="457200" y="1956816"/>
            <a:ext cx="54864" cy="502920"/>
          </a:xfrm>
          <a:prstGeom prst="rect">
            <a:avLst/>
          </a:prstGeom>
          <a:solidFill>
            <a:srgbClr val="0369A1"/>
          </a:solidFill>
          <a:ln cap="flat" cmpd="sng" w="12700">
            <a:solidFill>
              <a:srgbClr val="0369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4"/>
          <p:cNvSpPr/>
          <p:nvPr/>
        </p:nvSpPr>
        <p:spPr>
          <a:xfrm>
            <a:off x="640080" y="1847088"/>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Track A hardware delivers 47% area and 81% power reduction on Nangate45, translating to ~82% energy savings per inference.</a:t>
            </a:r>
            <a:endParaRPr sz="1200">
              <a:solidFill>
                <a:schemeClr val="dk1"/>
              </a:solidFill>
              <a:latin typeface="Calibri"/>
              <a:ea typeface="Calibri"/>
              <a:cs typeface="Calibri"/>
              <a:sym typeface="Calibri"/>
            </a:endParaRPr>
          </a:p>
        </p:txBody>
      </p:sp>
      <p:sp>
        <p:nvSpPr>
          <p:cNvPr id="483" name="Google Shape;483;p24"/>
          <p:cNvSpPr/>
          <p:nvPr/>
        </p:nvSpPr>
        <p:spPr>
          <a:xfrm>
            <a:off x="457200" y="2889504"/>
            <a:ext cx="54864" cy="502920"/>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4"/>
          <p:cNvSpPr/>
          <p:nvPr/>
        </p:nvSpPr>
        <p:spPr>
          <a:xfrm>
            <a:off x="640080" y="2779776"/>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Track B extends this to 3-trit weights (27 levels), achieving 26% smaller hardware than INT8 — the sweet spot before costs invert.</a:t>
            </a:r>
            <a:endParaRPr sz="1200">
              <a:solidFill>
                <a:schemeClr val="dk1"/>
              </a:solidFill>
              <a:latin typeface="Calibri"/>
              <a:ea typeface="Calibri"/>
              <a:cs typeface="Calibri"/>
              <a:sym typeface="Calibri"/>
            </a:endParaRPr>
          </a:p>
        </p:txBody>
      </p:sp>
      <p:sp>
        <p:nvSpPr>
          <p:cNvPr id="485" name="Google Shape;485;p24"/>
          <p:cNvSpPr/>
          <p:nvPr/>
        </p:nvSpPr>
        <p:spPr>
          <a:xfrm>
            <a:off x="457200" y="3822192"/>
            <a:ext cx="54864" cy="502920"/>
          </a:xfrm>
          <a:prstGeom prst="rect">
            <a:avLst/>
          </a:prstGeom>
          <a:solidFill>
            <a:srgbClr val="F5C518"/>
          </a:solidFill>
          <a:ln cap="flat" cmpd="sng" w="12700">
            <a:solidFill>
              <a:srgbClr val="F5C5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24"/>
          <p:cNvSpPr/>
          <p:nvPr/>
        </p:nvSpPr>
        <p:spPr>
          <a:xfrm>
            <a:off x="640080" y="3712464"/>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The fundamental lesson: radix economy benefits are real but substrate-dependent. Binary CMOS favors binary arithmetic; ternary wins only when weights, not activations, are ternary-encoded.</a:t>
            </a:r>
            <a:endParaRPr sz="1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0050"/>
        </a:solidFill>
      </p:bgPr>
    </p:bg>
    <p:spTree>
      <p:nvGrpSpPr>
        <p:cNvPr id="491" name="Shape 491"/>
        <p:cNvGrpSpPr/>
        <p:nvPr/>
      </p:nvGrpSpPr>
      <p:grpSpPr>
        <a:xfrm>
          <a:off x="0" y="0"/>
          <a:ext cx="0" cy="0"/>
          <a:chOff x="0" y="0"/>
          <a:chExt cx="0" cy="0"/>
        </a:xfrm>
      </p:grpSpPr>
      <p:sp>
        <p:nvSpPr>
          <p:cNvPr id="492" name="Google Shape;492;p25"/>
          <p:cNvSpPr/>
          <p:nvPr/>
        </p:nvSpPr>
        <p:spPr>
          <a:xfrm>
            <a:off x="0" y="0"/>
            <a:ext cx="9144000" cy="73152"/>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5"/>
          <p:cNvSpPr/>
          <p:nvPr/>
        </p:nvSpPr>
        <p:spPr>
          <a:xfrm>
            <a:off x="457200" y="2816352"/>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Thank You</a:t>
            </a:r>
            <a:endParaRPr sz="3600">
              <a:solidFill>
                <a:schemeClr val="dk1"/>
              </a:solidFill>
              <a:latin typeface="Calibri"/>
              <a:ea typeface="Calibri"/>
              <a:cs typeface="Calibri"/>
              <a:sym typeface="Calibri"/>
            </a:endParaRPr>
          </a:p>
        </p:txBody>
      </p:sp>
      <p:sp>
        <p:nvSpPr>
          <p:cNvPr id="494" name="Google Shape;494;p25"/>
          <p:cNvSpPr/>
          <p:nvPr/>
        </p:nvSpPr>
        <p:spPr>
          <a:xfrm>
            <a:off x="457200" y="3547872"/>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BAACC"/>
              </a:buClr>
              <a:buSzPts val="1600"/>
              <a:buFont typeface="Calibri"/>
              <a:buNone/>
            </a:pPr>
            <a:r>
              <a:rPr lang="en-US" sz="1600">
                <a:solidFill>
                  <a:srgbClr val="BBAACC"/>
                </a:solidFill>
                <a:latin typeface="Calibri"/>
                <a:ea typeface="Calibri"/>
                <a:cs typeface="Calibri"/>
                <a:sym typeface="Calibri"/>
              </a:rPr>
              <a:t>Vanshika Agrawal  ·  Vincent Cappone</a:t>
            </a:r>
            <a:endParaRPr sz="1600">
              <a:solidFill>
                <a:schemeClr val="dk1"/>
              </a:solidFill>
              <a:latin typeface="Calibri"/>
              <a:ea typeface="Calibri"/>
              <a:cs typeface="Calibri"/>
              <a:sym typeface="Calibri"/>
            </a:endParaRPr>
          </a:p>
        </p:txBody>
      </p:sp>
      <p:sp>
        <p:nvSpPr>
          <p:cNvPr id="495" name="Google Shape;495;p25"/>
          <p:cNvSpPr/>
          <p:nvPr/>
        </p:nvSpPr>
        <p:spPr>
          <a:xfrm>
            <a:off x="457200" y="3950208"/>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88AA"/>
              </a:buClr>
              <a:buSzPts val="1300"/>
              <a:buFont typeface="Calibri"/>
              <a:buNone/>
            </a:pPr>
            <a:r>
              <a:rPr lang="en-US" sz="1300">
                <a:solidFill>
                  <a:srgbClr val="9988AA"/>
                </a:solidFill>
                <a:latin typeface="Calibri"/>
                <a:ea typeface="Calibri"/>
                <a:cs typeface="Calibri"/>
                <a:sym typeface="Calibri"/>
              </a:rPr>
              <a:t>New York University  ·  Electrical and Computer Engineering</a:t>
            </a:r>
            <a:endParaRPr sz="1300">
              <a:solidFill>
                <a:schemeClr val="dk1"/>
              </a:solidFill>
              <a:latin typeface="Calibri"/>
              <a:ea typeface="Calibri"/>
              <a:cs typeface="Calibri"/>
              <a:sym typeface="Calibri"/>
            </a:endParaRPr>
          </a:p>
        </p:txBody>
      </p:sp>
      <p:sp>
        <p:nvSpPr>
          <p:cNvPr id="496" name="Google Shape;496;p25"/>
          <p:cNvSpPr/>
          <p:nvPr/>
        </p:nvSpPr>
        <p:spPr>
          <a:xfrm>
            <a:off x="2743200" y="4407408"/>
            <a:ext cx="3657600" cy="36576"/>
          </a:xfrm>
          <a:prstGeom prst="rect">
            <a:avLst/>
          </a:prstGeom>
          <a:solidFill>
            <a:srgbClr val="8900E1"/>
          </a:solidFill>
          <a:ln cap="flat" cmpd="sng" w="12700">
            <a:solidFill>
              <a:srgbClr val="8900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5"/>
          <p:cNvSpPr/>
          <p:nvPr/>
        </p:nvSpPr>
        <p:spPr>
          <a:xfrm>
            <a:off x="457200" y="4526280"/>
            <a:ext cx="8229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518"/>
              </a:buClr>
              <a:buSzPts val="2200"/>
              <a:buFont typeface="Calibri"/>
              <a:buNone/>
            </a:pPr>
            <a:r>
              <a:rPr b="1" lang="en-US" sz="2200">
                <a:solidFill>
                  <a:srgbClr val="F5C518"/>
                </a:solidFill>
                <a:latin typeface="Calibri"/>
                <a:ea typeface="Calibri"/>
                <a:cs typeface="Calibri"/>
                <a:sym typeface="Calibri"/>
              </a:rPr>
              <a:t>Questions?</a:t>
            </a:r>
            <a:endParaRPr sz="2200">
              <a:solidFill>
                <a:schemeClr val="dk1"/>
              </a:solidFill>
              <a:latin typeface="Calibri"/>
              <a:ea typeface="Calibri"/>
              <a:cs typeface="Calibri"/>
              <a:sym typeface="Calibri"/>
            </a:endParaRPr>
          </a:p>
        </p:txBody>
      </p:sp>
      <p:pic>
        <p:nvPicPr>
          <p:cNvPr id="498" name="Google Shape;498;p25"/>
          <p:cNvPicPr preferRelativeResize="0"/>
          <p:nvPr/>
        </p:nvPicPr>
        <p:blipFill rotWithShape="1">
          <a:blip r:embed="rId3">
            <a:alphaModFix/>
          </a:blip>
          <a:srcRect b="0" l="0" r="0" t="0"/>
          <a:stretch/>
        </p:blipFill>
        <p:spPr>
          <a:xfrm>
            <a:off x="3683000" y="635000"/>
            <a:ext cx="1778000" cy="99906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